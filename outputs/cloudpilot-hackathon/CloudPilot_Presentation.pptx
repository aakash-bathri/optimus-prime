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20e29f4262425f" /><Relationship Type="http://schemas.openxmlformats.org/officeDocument/2006/relationships/extended-properties" Target="/docProps/app.xml" Id="Re69dd0e3a24a45ee" /><Relationship Type="http://schemas.openxmlformats.org/officeDocument/2006/relationships/officeDocument" Target="/ppt/presentation.xml" Id="R0c36dc478d3a4989" /></Relationships>
</file>

<file path=ppt/presentation.xml><?xml version="1.0" encoding="utf-8"?>
<p:presentation xmlns:p="http://schemas.openxmlformats.org/presentationml/2006/main">
  <p:sldMasterIdLst>
    <p:sldMasterId xmlns:r="http://schemas.openxmlformats.org/officeDocument/2006/relationships" id="2147483648" r:id="Ra74d1cc6e18d4004"/>
  </p:sldMasterIdLst>
  <p:notesMasterIdLst>
    <p:notesMasterId xmlns:r="http://schemas.openxmlformats.org/officeDocument/2006/relationships" r:id="R5202d74ca4714c6c"/>
  </p:notesMasterIdLst>
  <p:sldIdLst>
    <p:sldId xmlns:r="http://schemas.openxmlformats.org/officeDocument/2006/relationships" id="256" r:id="R5819f094fa324d12"/>
    <p:sldId xmlns:r="http://schemas.openxmlformats.org/officeDocument/2006/relationships" id="257" r:id="Rdfa7f683e1b24738"/>
    <p:sldId xmlns:r="http://schemas.openxmlformats.org/officeDocument/2006/relationships" id="258" r:id="Raf20ef92f948434a"/>
    <p:sldId xmlns:r="http://schemas.openxmlformats.org/officeDocument/2006/relationships" id="259" r:id="Rd160b4cbee7c451d"/>
    <p:sldId xmlns:r="http://schemas.openxmlformats.org/officeDocument/2006/relationships" id="260" r:id="Rdf94cedfc8df40fe"/>
    <p:sldId xmlns:r="http://schemas.openxmlformats.org/officeDocument/2006/relationships" id="261" r:id="R0540ba17aa914d01"/>
    <p:sldId xmlns:r="http://schemas.openxmlformats.org/officeDocument/2006/relationships" id="262" r:id="Rf3bee2f336cd46b7"/>
    <p:sldId xmlns:r="http://schemas.openxmlformats.org/officeDocument/2006/relationships" id="263" r:id="R52b9c55209934426"/>
    <p:sldId xmlns:r="http://schemas.openxmlformats.org/officeDocument/2006/relationships" id="264" r:id="R93f284fd7d8e4a02"/>
    <p:sldId xmlns:r="http://schemas.openxmlformats.org/officeDocument/2006/relationships" id="265" r:id="R128c9917839e4396"/>
    <p:sldId xmlns:r="http://schemas.openxmlformats.org/officeDocument/2006/relationships" id="266" r:id="Rc2a2259980514256"/>
    <p:sldId xmlns:r="http://schemas.openxmlformats.org/officeDocument/2006/relationships" id="267" r:id="R2db4d38e82b349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2110443fab4aa5" /><Relationship Type="http://schemas.openxmlformats.org/officeDocument/2006/relationships/slideMaster" Target="/ppt/slideMasters/slideMaster1.xml" Id="Ra74d1cc6e18d4004" /><Relationship Type="http://schemas.openxmlformats.org/officeDocument/2006/relationships/notesMaster" Target="/ppt/notesMasters/notesMaster1.xml" Id="R5202d74ca4714c6c" /><Relationship Type="http://schemas.openxmlformats.org/officeDocument/2006/relationships/presProps" Target="/ppt/presProps.xml" Id="R57d64c4a79d142f7" /><Relationship Type="http://schemas.openxmlformats.org/officeDocument/2006/relationships/tableStyles" Target="/ppt/tableStyles.xml" Id="Ra6ea276770b94b68" /><Relationship Type="http://schemas.openxmlformats.org/officeDocument/2006/relationships/slide" Target="/ppt/slides/slide1.xml" Id="R5819f094fa324d12" /><Relationship Type="http://schemas.openxmlformats.org/officeDocument/2006/relationships/slide" Target="/ppt/slides/slide2.xml" Id="Rdfa7f683e1b24738" /><Relationship Type="http://schemas.openxmlformats.org/officeDocument/2006/relationships/slide" Target="/ppt/slides/slide3.xml" Id="Raf20ef92f948434a" /><Relationship Type="http://schemas.openxmlformats.org/officeDocument/2006/relationships/slide" Target="/ppt/slides/slide4.xml" Id="Rd160b4cbee7c451d" /><Relationship Type="http://schemas.openxmlformats.org/officeDocument/2006/relationships/slide" Target="/ppt/slides/slide5.xml" Id="Rdf94cedfc8df40fe" /><Relationship Type="http://schemas.openxmlformats.org/officeDocument/2006/relationships/slide" Target="/ppt/slides/slide6.xml" Id="R0540ba17aa914d01" /><Relationship Type="http://schemas.openxmlformats.org/officeDocument/2006/relationships/slide" Target="/ppt/slides/slide7.xml" Id="Rf3bee2f336cd46b7" /><Relationship Type="http://schemas.openxmlformats.org/officeDocument/2006/relationships/slide" Target="/ppt/slides/slide8.xml" Id="R52b9c55209934426" /><Relationship Type="http://schemas.openxmlformats.org/officeDocument/2006/relationships/slide" Target="/ppt/slides/slide9.xml" Id="R93f284fd7d8e4a02" /><Relationship Type="http://schemas.openxmlformats.org/officeDocument/2006/relationships/slide" Target="/ppt/slides/slide10.xml" Id="R128c9917839e4396" /><Relationship Type="http://schemas.openxmlformats.org/officeDocument/2006/relationships/slide" Target="/ppt/slides/slide11.xml" Id="Rc2a2259980514256" /><Relationship Type="http://schemas.openxmlformats.org/officeDocument/2006/relationships/slide" Target="/ppt/slides/slide12.xml" Id="R2db4d38e82b349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99b15d1e7546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021cfdf4af4d55" /><Relationship Type="http://schemas.openxmlformats.org/officeDocument/2006/relationships/notesMaster" Target="/ppt/notesMasters/notesMaster1.xml" Id="Rd216a757088d49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a22d370c614636" /><Relationship Type="http://schemas.openxmlformats.org/officeDocument/2006/relationships/notesMaster" Target="/ppt/notesMasters/notesMaster1.xml" Id="Rde970b25530944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10ad617f364de5" /><Relationship Type="http://schemas.openxmlformats.org/officeDocument/2006/relationships/notesMaster" Target="/ppt/notesMasters/notesMaster1.xml" Id="Rb7b9cb1e1dd94a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34660d3129497d" /><Relationship Type="http://schemas.openxmlformats.org/officeDocument/2006/relationships/notesMaster" Target="/ppt/notesMasters/notesMaster1.xml" Id="R845a91439ec346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8c4c19826944f61" /><Relationship Type="http://schemas.openxmlformats.org/officeDocument/2006/relationships/notesMaster" Target="/ppt/notesMasters/notesMaster1.xml" Id="Rfd2c8b7699cb4c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924f0e31034bf1" /><Relationship Type="http://schemas.openxmlformats.org/officeDocument/2006/relationships/notesMaster" Target="/ppt/notesMasters/notesMaster1.xml" Id="R65b401ce9bb745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11e6b9a7fd4f57" /><Relationship Type="http://schemas.openxmlformats.org/officeDocument/2006/relationships/notesMaster" Target="/ppt/notesMasters/notesMaster1.xml" Id="R6177fbcf6daf44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a4ad9d2a934a5e" /><Relationship Type="http://schemas.openxmlformats.org/officeDocument/2006/relationships/notesMaster" Target="/ppt/notesMasters/notesMaster1.xml" Id="Rb3e51ec8479544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658d90c6884126" /><Relationship Type="http://schemas.openxmlformats.org/officeDocument/2006/relationships/notesMaster" Target="/ppt/notesMasters/notesMaster1.xml" Id="R3e59dd306ea14c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6437ae55c64946" /><Relationship Type="http://schemas.openxmlformats.org/officeDocument/2006/relationships/notesMaster" Target="/ppt/notesMasters/notesMaster1.xml" Id="Rae51143baa564e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286c10005d46f1" /><Relationship Type="http://schemas.openxmlformats.org/officeDocument/2006/relationships/notesMaster" Target="/ppt/notesMasters/notesMaster1.xml" Id="R08bdc76ce7e94a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35af07f47b48f4" /><Relationship Type="http://schemas.openxmlformats.org/officeDocument/2006/relationships/notesMaster" Target="/ppt/notesMasters/notesMaster1.xml" Id="R3c11868e2b8a42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CloudPilot helps engineers review cloud costs with evidence and explicit approval. This deck describes the implemented prototype in README.md and docs/TRD.md, inspected 25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Product motivation from README.md and docs/PRODUCT_DEFINITION.md. These are the product problems addressed, not a quantified market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Show Resources, then Recommendations. Inspect peaks, stress replay and blocked alternatives. Queue a finding for review. Queuing does not execute it or create verified savings. Source: README.md, docs/TRD.md. Screenshot: docs/verification/recommendations-ui.png, recorded project evidence, not a live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CSVs inspected directly on 25 October 2026. test-data/resources.csv: 200 rows. metrics.csv: 432000 rows, including 2880 missing observations. gpu_metrics.csv: 28800 rows. Window is Aug 1 through Aug 30 2026, end exclusive Aug 31. No production telemetry or measured cost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Policy is conservative-demo-v1 in backend/app/engine/policy.py. CPU and memory peak &lt;=80%, disk occupancy &lt;=80%, coverage &gt;=95%, &gt;=7 days history and latest sample &lt;=3600s from historical cutoff. All peaks participate. Example is illustrative arithmetic, not a recommendation for an actual resource. Synthetic evidence and unknown capabilities still block production eligibility.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Derived directly from pricing.csv: sum of monthly_equivalent_inr=1028550 INR across 170 known-price resources. 20 public IP and 10 GPU costs are unknown. Quarterly /3 is a comparison basis, not a monthly tariff or guaranteed cash saving. Source: test-data/pricing.csv, assumptions.json,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Sources: docs/TRD.md and README.md. React/Vite frontend calls FastAPI. SQLite stores imported data, evidence, decisions and audit. Deterministic Python engine owns arithmetic. Shared LLM client handles explanation and scenario interpretation without tools. Execution service owns approved LocalStack MCP changes and Terraform PRs.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exact preview, approval, stale-evidence recheck, execution, verified state and audit. Manual inverse change needs fresh approval. LocalStack validates control-plane behavior, not VM performance. Terraform integration creates a PR for the audited module, with no merge or apply. Source: README.md, docs/TRD.md. Recorded screenshot: docs/terraform-pr-demo.png.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Natural-language what-if interpretation uses the configured LLM. Users review visible inputs before running. Commitment mode produces zero shutdown cash savings. Hourly billing is a labeled hypothetical mode. Energy/carbon depend on editable assumptions. Historical extrapolation is not a calibrated ML forecast. Source: README.md, docs/TRD.md. Recorded screenshot: docs/verification/scenario-ui.png.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Historical verification as recorded in docs/verification/README.md dated 24 October 2026, not rerun while preparing this deck. 153 backend tests, 15 simulated-adapter API journeys, 15 additional real LocalStack MCP API journeys, frontend build, Qwen interpretation and real Terraform demo PR #3. Later focused checks are separate runs and must not be added to the 153 as a unique-test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Sources: README.md, docs/TRD.md and docs/assumptions.md. Roadmap items are future work. No production Utho integration, tenant isolation, automatic deletion or unattended notifications.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Companion workbook includes assumptions, policy constants, dataset checks, 200-resource price inventory and source hashes. Direct CSV audit found Aug 1–30 metrics and Mar–Aug billing. docs/assumptions.md names a different telemetry window and Apr–Sep billing. data_quality_summary.json references absent oracle and label files. These discrepancies remain visible in the workbook. Core engine consumes neither labels nor oracle.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51b67107814f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6a226cd37343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d558402bdb4b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d3de9132494b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3121dfb4ca40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b30e75bf274a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FC7A81-0A03-468F-8ED8-8DF2B72C34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A50BA1-8191-4EC9-978A-08CF15D39B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29FB56-60E1-4842-925F-7D5944B0ABF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F19A48-F8A4-4FC7-BAA8-631FB14B4A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241526-4FF5-49BC-981C-3F23CB25DD6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A35C349-6FBF-4366-B762-153C96A22A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20D7DC-8858-4F97-AAEF-98B64DF9E63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A3A262-CF68-43B3-9974-EEE746EACC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09EDA7-3C03-4FCC-91E6-63A229F035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063F1C-E438-4E87-862B-F80D270247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19d629d62948a6" /><Relationship Type="http://schemas.openxmlformats.org/officeDocument/2006/relationships/slideLayout" Target="/ppt/slideLayouts/slideLayout1.xml" Id="R9193bf18ac194c54" /><Relationship Type="http://schemas.openxmlformats.org/officeDocument/2006/relationships/slideLayout" Target="/ppt/slideLayouts/slideLayout2.xml" Id="R8f9bd9a28fc14cd8" /><Relationship Type="http://schemas.openxmlformats.org/officeDocument/2006/relationships/slideLayout" Target="/ppt/slideLayouts/slideLayout3.xml" Id="Red58652f040e41d7" /><Relationship Type="http://schemas.openxmlformats.org/officeDocument/2006/relationships/slideLayout" Target="/ppt/slideLayouts/slideLayout4.xml" Id="R36477ef320154827" /><Relationship Type="http://schemas.openxmlformats.org/officeDocument/2006/relationships/slideLayout" Target="/ppt/slideLayouts/slideLayout5.xml" Id="R81538bf52f734ba8" /><Relationship Type="http://schemas.openxmlformats.org/officeDocument/2006/relationships/slideLayout" Target="/ppt/slideLayouts/slideLayout6.xml" Id="R6bcfac6b0ed54a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93bf18ac194c54"/>
    <p:sldLayoutId xmlns:r="http://schemas.openxmlformats.org/officeDocument/2006/relationships" id="2147483650" r:id="R8f9bd9a28fc14cd8"/>
    <p:sldLayoutId xmlns:r="http://schemas.openxmlformats.org/officeDocument/2006/relationships" id="2147483651" r:id="Red58652f040e41d7"/>
    <p:sldLayoutId xmlns:r="http://schemas.openxmlformats.org/officeDocument/2006/relationships" id="2147483652" r:id="R36477ef320154827"/>
    <p:sldLayoutId xmlns:r="http://schemas.openxmlformats.org/officeDocument/2006/relationships" id="2147483653" r:id="R81538bf52f734ba8"/>
    <p:sldLayoutId xmlns:r="http://schemas.openxmlformats.org/officeDocument/2006/relationships" id="2147483654" r:id="R6bcfac6b0ed54a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4b80e8cd0d4346" /><Relationship Type="http://schemas.openxmlformats.org/officeDocument/2006/relationships/notesSlide" Target="/ppt/notesSlides/notesSlide1.xml" Id="R0b9b285d0ddb45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07e80cc51d4810" /><Relationship Type="http://schemas.openxmlformats.org/officeDocument/2006/relationships/notesSlide" Target="/ppt/notesSlides/notesSlide2.xml" Id="Rba121c65bacf48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d19b6a6e4e420a" /><Relationship Type="http://schemas.openxmlformats.org/officeDocument/2006/relationships/image" Target="/ppt/media/image.jpeg" Id="Re52883d8a1024d2f" /><Relationship Type="http://schemas.openxmlformats.org/officeDocument/2006/relationships/notesSlide" Target="/ppt/notesSlides/notesSlide3.xml" Id="Re066e36719474d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a039948cf6444f" /><Relationship Type="http://schemas.openxmlformats.org/officeDocument/2006/relationships/notesSlide" Target="/ppt/notesSlides/notesSlide4.xml" Id="R44b38ae4c89f4f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575155028994972" /><Relationship Type="http://schemas.openxmlformats.org/officeDocument/2006/relationships/notesSlide" Target="/ppt/notesSlides/notesSlide5.xml" Id="R08bbf601c46144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052b2a3d704aac" /><Relationship Type="http://schemas.openxmlformats.org/officeDocument/2006/relationships/notesSlide" Target="/ppt/notesSlides/notesSlide6.xml" Id="R05c7e56ac2ab47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7af55cd01ce4d0b" /><Relationship Type="http://schemas.openxmlformats.org/officeDocument/2006/relationships/notesSlide" Target="/ppt/notesSlides/notesSlide7.xml" Id="R85213a49fbf247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8112b6e5c824a2b" /><Relationship Type="http://schemas.openxmlformats.org/officeDocument/2006/relationships/image" Target="/ppt/media/image2.jpeg" Id="R0cada516db464a5f" /><Relationship Type="http://schemas.openxmlformats.org/officeDocument/2006/relationships/notesSlide" Target="/ppt/notesSlides/notesSlide8.xml" Id="R06d9303f91354a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2d24afc36740aa" /><Relationship Type="http://schemas.openxmlformats.org/officeDocument/2006/relationships/image" Target="/ppt/media/image3.jpeg" Id="R11a2ecffce3c4cf0" /><Relationship Type="http://schemas.openxmlformats.org/officeDocument/2006/relationships/notesSlide" Target="/ppt/notesSlides/notesSlide9.xml" Id="R660f4bd913654b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7cd65a570ea4642" /><Relationship Type="http://schemas.openxmlformats.org/officeDocument/2006/relationships/notesSlide" Target="/ppt/notesSlides/notesSlide10.xml" Id="Rd638e363593949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d700f3fce364d56" /><Relationship Type="http://schemas.openxmlformats.org/officeDocument/2006/relationships/notesSlide" Target="/ppt/notesSlides/notesSlide11.xml" Id="Rd142ba36014745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959c501f0ad4faf" /><Relationship Type="http://schemas.openxmlformats.org/officeDocument/2006/relationships/notesSlide" Target="/ppt/notesSlides/notesSlide12.xml" Id="Rc3660754be684dbd"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24E2A2-518F-4466-BF67-A55EF69CA027}"/>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CloudPilot</a:t>
            </a:r>
          </a:p>
        </p:txBody>
      </p:sp>
      <p:sp>
        <p:nvSpPr>
          <p:cNvPr id="2" name="">
            <a:extLst xmlns:a="http://schemas.openxmlformats.org/drawingml/2006/main">
              <a:ext uri="{FF2B5EF4-FFF2-40B4-BE49-F238E27FC236}">
                <a16:creationId xmlns:a16="http://schemas.microsoft.com/office/drawing/2014/main" id="{CF404401-0F36-41AE-BEE8-18AED29CA554}"/>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17C9EB46-416C-43F0-BA8B-DD5FDA75C27A}"/>
              </a:ext>
            </a:extLst>
          </p:cNvPr>
          <p:cNvSpPr>
            <a:spLocks xmlns:a="http://schemas.openxmlformats.org/drawingml/2006/main" noGrp="1"/>
          </p:cNvSpPr>
          <p:nvPr/>
        </p:nvSpPr>
        <p:spPr>
          <a:xfrm xmlns:a="http://schemas.openxmlformats.org/drawingml/2006/main">
            <a:off x="609600" y="2095500"/>
            <a:ext cx="1000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10243A"/>
                </a:solidFill>
                <a:latin typeface="Arial"/>
                <a:ea typeface="Arial"/>
                <a:cs typeface="Arial"/>
              </a:defRPr>
            </a:defPPr>
            <a:lvl1pPr>
              <a:defRPr sz="4650" b="1">
                <a:solidFill>
                  <a:srgbClr val="10243A"/>
                </a:solidFill>
                <a:latin typeface="Arial"/>
                <a:ea typeface="Arial"/>
                <a:cs typeface="Arial"/>
              </a:defRPr>
            </a:lvl1pPr>
            <a:lvl2pPr>
              <a:defRPr sz="4650" b="1">
                <a:solidFill>
                  <a:srgbClr val="10243A"/>
                </a:solidFill>
                <a:latin typeface="Arial"/>
                <a:ea typeface="Arial"/>
                <a:cs typeface="Arial"/>
              </a:defRPr>
            </a:lvl2pPr>
            <a:lvl3pPr>
              <a:defRPr sz="4650" b="1">
                <a:solidFill>
                  <a:srgbClr val="10243A"/>
                </a:solidFill>
                <a:latin typeface="Arial"/>
                <a:ea typeface="Arial"/>
                <a:cs typeface="Arial"/>
              </a:defRPr>
            </a:lvl3pPr>
            <a:lvl4pPr>
              <a:defRPr sz="4650" b="1">
                <a:solidFill>
                  <a:srgbClr val="10243A"/>
                </a:solidFill>
                <a:latin typeface="Arial"/>
                <a:ea typeface="Arial"/>
                <a:cs typeface="Arial"/>
              </a:defRPr>
            </a:lvl4pPr>
            <a:lvl5pPr>
              <a:defRPr sz="4650" b="1">
                <a:solidFill>
                  <a:srgbClr val="10243A"/>
                </a:solidFill>
                <a:latin typeface="Arial"/>
                <a:ea typeface="Arial"/>
                <a:cs typeface="Arial"/>
              </a:defRPr>
            </a:lvl5pPr>
            <a:lvl6pPr>
              <a:defRPr sz="4650" b="1">
                <a:solidFill>
                  <a:srgbClr val="10243A"/>
                </a:solidFill>
                <a:latin typeface="Arial"/>
                <a:ea typeface="Arial"/>
                <a:cs typeface="Arial"/>
              </a:defRPr>
            </a:lvl6pPr>
            <a:lvl7pPr>
              <a:defRPr sz="4650" b="1">
                <a:solidFill>
                  <a:srgbClr val="10243A"/>
                </a:solidFill>
                <a:latin typeface="Arial"/>
                <a:ea typeface="Arial"/>
                <a:cs typeface="Arial"/>
              </a:defRPr>
            </a:lvl7pPr>
            <a:lvl8pPr>
              <a:defRPr sz="4650" b="1">
                <a:solidFill>
                  <a:srgbClr val="10243A"/>
                </a:solidFill>
                <a:latin typeface="Arial"/>
                <a:ea typeface="Arial"/>
                <a:cs typeface="Arial"/>
              </a:defRPr>
            </a:lvl8pPr>
            <a:lvl9pPr>
              <a:defRPr sz="4650" b="1">
                <a:solidFill>
                  <a:srgbClr val="10243A"/>
                </a:solidFill>
                <a:latin typeface="Arial"/>
                <a:ea typeface="Arial"/>
                <a:cs typeface="Arial"/>
              </a:defRPr>
            </a:lvl9pPr>
          </a:lstStyle>
          <a:p xmlns:a="http://schemas.openxmlformats.org/drawingml/2006/main">
            <a:pPr>
              <a:defRPr sz="4650" b="1">
                <a:solidFill>
                  <a:srgbClr val="10243A"/>
                </a:solidFill>
                <a:latin typeface="Arial"/>
                <a:ea typeface="Arial"/>
                <a:cs typeface="Arial"/>
              </a:defRPr>
            </a:pPr>
            <a:r>
              <a:rPr sz="4650" b="1">
                <a:solidFill>
                  <a:srgbClr val="10243A"/>
                </a:solidFill>
                <a:latin typeface="Arial"/>
                <a:ea typeface="Arial"/>
                <a:cs typeface="Arial"/>
              </a:rPr>
              <a:t>Cloud cost decisions</a:t>
            </a:r>
          </a:p>
          <a:p xmlns:a="http://schemas.openxmlformats.org/drawingml/2006/main">
            <a:pPr>
              <a:defRPr sz="4650" b="1">
                <a:solidFill>
                  <a:srgbClr val="10243A"/>
                </a:solidFill>
                <a:latin typeface="Arial"/>
                <a:ea typeface="Arial"/>
                <a:cs typeface="Arial"/>
              </a:defRPr>
            </a:pPr>
            <a:r>
              <a:rPr sz="4650" b="1">
                <a:solidFill>
                  <a:srgbClr val="10243A"/>
                </a:solidFill>
                <a:latin typeface="Arial"/>
                <a:ea typeface="Arial"/>
                <a:cs typeface="Arial"/>
              </a:rPr>
              <a:t>with evidence and approval</a:t>
            </a:r>
          </a:p>
        </p:txBody>
      </p:sp>
      <p:sp>
        <p:nvSpPr>
          <p:cNvPr id="4" name="">
            <a:extLst xmlns:a="http://schemas.openxmlformats.org/drawingml/2006/main">
              <a:ext uri="{FF2B5EF4-FFF2-40B4-BE49-F238E27FC236}">
                <a16:creationId xmlns:a16="http://schemas.microsoft.com/office/drawing/2014/main" id="{75D262C8-36CB-473B-B5D4-6F5C05B1BAB3}"/>
              </a:ext>
            </a:extLst>
          </p:cNvPr>
          <p:cNvSpPr>
            <a:spLocks xmlns:a="http://schemas.openxmlformats.org/drawingml/2006/main" noGrp="1"/>
          </p:cNvSpPr>
          <p:nvPr/>
        </p:nvSpPr>
        <p:spPr>
          <a:xfrm xmlns:a="http://schemas.openxmlformats.org/drawingml/2006/main">
            <a:off x="647700" y="41910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07F8B"/>
                </a:solidFill>
                <a:latin typeface="Arial"/>
                <a:ea typeface="Arial"/>
                <a:cs typeface="Arial"/>
              </a:defRPr>
            </a:defPPr>
            <a:lvl1pPr>
              <a:defRPr sz="2100" b="0">
                <a:solidFill>
                  <a:srgbClr val="007F8B"/>
                </a:solidFill>
                <a:latin typeface="Arial"/>
                <a:ea typeface="Arial"/>
                <a:cs typeface="Arial"/>
              </a:defRPr>
            </a:lvl1pPr>
            <a:lvl2pPr>
              <a:defRPr sz="2100" b="0">
                <a:solidFill>
                  <a:srgbClr val="007F8B"/>
                </a:solidFill>
                <a:latin typeface="Arial"/>
                <a:ea typeface="Arial"/>
                <a:cs typeface="Arial"/>
              </a:defRPr>
            </a:lvl2pPr>
            <a:lvl3pPr>
              <a:defRPr sz="2100" b="0">
                <a:solidFill>
                  <a:srgbClr val="007F8B"/>
                </a:solidFill>
                <a:latin typeface="Arial"/>
                <a:ea typeface="Arial"/>
                <a:cs typeface="Arial"/>
              </a:defRPr>
            </a:lvl3pPr>
            <a:lvl4pPr>
              <a:defRPr sz="2100" b="0">
                <a:solidFill>
                  <a:srgbClr val="007F8B"/>
                </a:solidFill>
                <a:latin typeface="Arial"/>
                <a:ea typeface="Arial"/>
                <a:cs typeface="Arial"/>
              </a:defRPr>
            </a:lvl4pPr>
            <a:lvl5pPr>
              <a:defRPr sz="2100" b="0">
                <a:solidFill>
                  <a:srgbClr val="007F8B"/>
                </a:solidFill>
                <a:latin typeface="Arial"/>
                <a:ea typeface="Arial"/>
                <a:cs typeface="Arial"/>
              </a:defRPr>
            </a:lvl5pPr>
            <a:lvl6pPr>
              <a:defRPr sz="2100" b="0">
                <a:solidFill>
                  <a:srgbClr val="007F8B"/>
                </a:solidFill>
                <a:latin typeface="Arial"/>
                <a:ea typeface="Arial"/>
                <a:cs typeface="Arial"/>
              </a:defRPr>
            </a:lvl6pPr>
            <a:lvl7pPr>
              <a:defRPr sz="2100" b="0">
                <a:solidFill>
                  <a:srgbClr val="007F8B"/>
                </a:solidFill>
                <a:latin typeface="Arial"/>
                <a:ea typeface="Arial"/>
                <a:cs typeface="Arial"/>
              </a:defRPr>
            </a:lvl7pPr>
            <a:lvl8pPr>
              <a:defRPr sz="2100" b="0">
                <a:solidFill>
                  <a:srgbClr val="007F8B"/>
                </a:solidFill>
                <a:latin typeface="Arial"/>
                <a:ea typeface="Arial"/>
                <a:cs typeface="Arial"/>
              </a:defRPr>
            </a:lvl8pPr>
            <a:lvl9pPr>
              <a:defRPr sz="2100" b="0">
                <a:solidFill>
                  <a:srgbClr val="007F8B"/>
                </a:solidFill>
                <a:latin typeface="Arial"/>
                <a:ea typeface="Arial"/>
                <a:cs typeface="Arial"/>
              </a:defRPr>
            </a:lvl9pPr>
          </a:lstStyle>
          <a:p xmlns:a="http://schemas.openxmlformats.org/drawingml/2006/main">
            <a:pPr>
              <a:defRPr sz="2100" b="0">
                <a:solidFill>
                  <a:srgbClr val="007F8B"/>
                </a:solidFill>
                <a:latin typeface="Arial"/>
                <a:ea typeface="Arial"/>
                <a:cs typeface="Arial"/>
              </a:defRPr>
            </a:pPr>
            <a:r>
              <a:rPr sz="2100" b="0">
                <a:solidFill>
                  <a:srgbClr val="007F8B"/>
                </a:solidFill>
                <a:latin typeface="Arial"/>
                <a:ea typeface="Arial"/>
                <a:cs typeface="Arial"/>
              </a:rPr>
              <a:t>Utho SmartCloud Optimizer hackathon project</a:t>
            </a:r>
          </a:p>
        </p:txBody>
      </p:sp>
      <p:sp>
        <p:nvSpPr>
          <p:cNvPr id="5" name="">
            <a:extLst xmlns:a="http://schemas.openxmlformats.org/drawingml/2006/main">
              <a:ext uri="{FF2B5EF4-FFF2-40B4-BE49-F238E27FC236}">
                <a16:creationId xmlns:a16="http://schemas.microsoft.com/office/drawing/2014/main" id="{E5AF7E1B-B318-4021-BF88-CEF1BFE320F9}"/>
              </a:ext>
            </a:extLst>
          </p:cNvPr>
          <p:cNvSpPr>
            <a:spLocks xmlns:a="http://schemas.openxmlformats.org/drawingml/2006/main" noGrp="1"/>
          </p:cNvSpPr>
          <p:nvPr/>
        </p:nvSpPr>
        <p:spPr>
          <a:xfrm xmlns:a="http://schemas.openxmlformats.org/drawingml/2006/main">
            <a:off x="647700" y="51435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479"/>
                </a:solidFill>
                <a:latin typeface="Arial"/>
                <a:ea typeface="Arial"/>
                <a:cs typeface="Arial"/>
              </a:defRPr>
            </a:defPPr>
            <a:lvl1pPr>
              <a:defRPr sz="1875" b="0">
                <a:solidFill>
                  <a:srgbClr val="536479"/>
                </a:solidFill>
                <a:latin typeface="Arial"/>
                <a:ea typeface="Arial"/>
                <a:cs typeface="Arial"/>
              </a:defRPr>
            </a:lvl1pPr>
            <a:lvl2pPr>
              <a:defRPr sz="1875" b="0">
                <a:solidFill>
                  <a:srgbClr val="536479"/>
                </a:solidFill>
                <a:latin typeface="Arial"/>
                <a:ea typeface="Arial"/>
                <a:cs typeface="Arial"/>
              </a:defRPr>
            </a:lvl2pPr>
            <a:lvl3pPr>
              <a:defRPr sz="1875" b="0">
                <a:solidFill>
                  <a:srgbClr val="536479"/>
                </a:solidFill>
                <a:latin typeface="Arial"/>
                <a:ea typeface="Arial"/>
                <a:cs typeface="Arial"/>
              </a:defRPr>
            </a:lvl3pPr>
            <a:lvl4pPr>
              <a:defRPr sz="1875" b="0">
                <a:solidFill>
                  <a:srgbClr val="536479"/>
                </a:solidFill>
                <a:latin typeface="Arial"/>
                <a:ea typeface="Arial"/>
                <a:cs typeface="Arial"/>
              </a:defRPr>
            </a:lvl4pPr>
            <a:lvl5pPr>
              <a:defRPr sz="1875" b="0">
                <a:solidFill>
                  <a:srgbClr val="536479"/>
                </a:solidFill>
                <a:latin typeface="Arial"/>
                <a:ea typeface="Arial"/>
                <a:cs typeface="Arial"/>
              </a:defRPr>
            </a:lvl5pPr>
            <a:lvl6pPr>
              <a:defRPr sz="1875" b="0">
                <a:solidFill>
                  <a:srgbClr val="536479"/>
                </a:solidFill>
                <a:latin typeface="Arial"/>
                <a:ea typeface="Arial"/>
                <a:cs typeface="Arial"/>
              </a:defRPr>
            </a:lvl6pPr>
            <a:lvl7pPr>
              <a:defRPr sz="1875" b="0">
                <a:solidFill>
                  <a:srgbClr val="536479"/>
                </a:solidFill>
                <a:latin typeface="Arial"/>
                <a:ea typeface="Arial"/>
                <a:cs typeface="Arial"/>
              </a:defRPr>
            </a:lvl7pPr>
            <a:lvl8pPr>
              <a:defRPr sz="1875" b="0">
                <a:solidFill>
                  <a:srgbClr val="536479"/>
                </a:solidFill>
                <a:latin typeface="Arial"/>
                <a:ea typeface="Arial"/>
                <a:cs typeface="Arial"/>
              </a:defRPr>
            </a:lvl8pPr>
            <a:lvl9pPr>
              <a:defRPr sz="1875" b="0">
                <a:solidFill>
                  <a:srgbClr val="536479"/>
                </a:solidFill>
                <a:latin typeface="Arial"/>
                <a:ea typeface="Arial"/>
                <a:cs typeface="Arial"/>
              </a:defRPr>
            </a:lvl9pPr>
          </a:lstStyle>
          <a:p xmlns:a="http://schemas.openxmlformats.org/drawingml/2006/main">
            <a:pPr>
              <a:defRPr sz="1875" b="0">
                <a:solidFill>
                  <a:srgbClr val="536479"/>
                </a:solidFill>
                <a:latin typeface="Arial"/>
                <a:ea typeface="Arial"/>
                <a:cs typeface="Arial"/>
              </a:defRPr>
            </a:pPr>
            <a:r>
              <a:rPr sz="1875" b="0">
                <a:solidFill>
                  <a:srgbClr val="536479"/>
                </a:solidFill>
                <a:latin typeface="Arial"/>
                <a:ea typeface="Arial"/>
                <a:cs typeface="Arial"/>
              </a:rPr>
              <a:t>200 synthetic resources. A working review and execution workflow.</a:t>
            </a:r>
          </a:p>
        </p:txBody>
      </p:sp>
    </p:spTree>
    <p:extLst>
      <p:ext uri="{BB962C8B-B14F-4D97-AF65-F5344CB8AC3E}">
        <p14:creationId xmlns:p14="http://schemas.microsoft.com/office/powerpoint/2010/main" val="27132318"/>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6064A5-3BF1-4D01-BD31-4552471FC04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The cloud cost decision problem</a:t>
            </a:r>
          </a:p>
        </p:txBody>
      </p:sp>
      <p:sp>
        <p:nvSpPr>
          <p:cNvPr id="2" name="">
            <a:extLst xmlns:a="http://schemas.openxmlformats.org/drawingml/2006/main">
              <a:ext uri="{FF2B5EF4-FFF2-40B4-BE49-F238E27FC236}">
                <a16:creationId xmlns:a16="http://schemas.microsoft.com/office/drawing/2014/main" id="{31E6D0FF-D018-4196-8105-5C3410886C8F}"/>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DB39053-B03E-417B-B60A-C1E28E8EC075}"/>
              </a:ext>
            </a:extLst>
          </p:cNvPr>
          <p:cNvSpPr>
            <a:spLocks xmlns:a="http://schemas.openxmlformats.org/drawingml/2006/main" noGrp="1"/>
          </p:cNvSpPr>
          <p:nvPr/>
        </p:nvSpPr>
        <p:spPr>
          <a:xfrm xmlns:a="http://schemas.openxmlformats.org/drawingml/2006/main">
            <a:off x="609600" y="1714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Visibility</a:t>
            </a:r>
          </a:p>
        </p:txBody>
      </p:sp>
      <p:sp>
        <p:nvSpPr>
          <p:cNvPr id="4" name="">
            <a:extLst xmlns:a="http://schemas.openxmlformats.org/drawingml/2006/main">
              <a:ext uri="{FF2B5EF4-FFF2-40B4-BE49-F238E27FC236}">
                <a16:creationId xmlns:a16="http://schemas.microsoft.com/office/drawing/2014/main" id="{663BA07C-3A9B-41D7-9E19-03D29D2537AB}"/>
              </a:ext>
            </a:extLst>
          </p:cNvPr>
          <p:cNvSpPr>
            <a:spLocks xmlns:a="http://schemas.openxmlformats.org/drawingml/2006/main" noGrp="1"/>
          </p:cNvSpPr>
          <p:nvPr/>
        </p:nvSpPr>
        <p:spPr>
          <a:xfrm xmlns:a="http://schemas.openxmlformats.org/drawingml/2006/main">
            <a:off x="4000500" y="171450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Engineers need resource-level usage, ownership and cost context.</a:t>
            </a:r>
          </a:p>
        </p:txBody>
      </p:sp>
      <p:sp>
        <p:nvSpPr>
          <p:cNvPr id="5" name="">
            <a:extLst xmlns:a="http://schemas.openxmlformats.org/drawingml/2006/main">
              <a:ext uri="{FF2B5EF4-FFF2-40B4-BE49-F238E27FC236}">
                <a16:creationId xmlns:a16="http://schemas.microsoft.com/office/drawing/2014/main" id="{125EE1EF-C20A-48D3-9736-4F805D9CB329}"/>
              </a:ext>
            </a:extLst>
          </p:cNvPr>
          <p:cNvSpPr>
            <a:spLocks xmlns:a="http://schemas.openxmlformats.org/drawingml/2006/main" noGrp="1"/>
          </p:cNvSpPr>
          <p:nvPr/>
        </p:nvSpPr>
        <p:spPr>
          <a:xfrm xmlns:a="http://schemas.openxmlformats.org/drawingml/2006/main">
            <a:off x="609600" y="2857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Trust</a:t>
            </a:r>
          </a:p>
        </p:txBody>
      </p:sp>
      <p:sp>
        <p:nvSpPr>
          <p:cNvPr id="6" name="">
            <a:extLst xmlns:a="http://schemas.openxmlformats.org/drawingml/2006/main">
              <a:ext uri="{FF2B5EF4-FFF2-40B4-BE49-F238E27FC236}">
                <a16:creationId xmlns:a16="http://schemas.microsoft.com/office/drawing/2014/main" id="{8DD502F9-8F74-49A3-943B-AC65327EAF54}"/>
              </a:ext>
            </a:extLst>
          </p:cNvPr>
          <p:cNvSpPr>
            <a:spLocks xmlns:a="http://schemas.openxmlformats.org/drawingml/2006/main" noGrp="1"/>
          </p:cNvSpPr>
          <p:nvPr/>
        </p:nvSpPr>
        <p:spPr>
          <a:xfrm xmlns:a="http://schemas.openxmlformats.org/drawingml/2006/main">
            <a:off x="4000500" y="285750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Low average CPU can hide memory pressure and short usage peaks.</a:t>
            </a:r>
          </a:p>
        </p:txBody>
      </p:sp>
      <p:sp>
        <p:nvSpPr>
          <p:cNvPr id="7" name="">
            <a:extLst xmlns:a="http://schemas.openxmlformats.org/drawingml/2006/main">
              <a:ext uri="{FF2B5EF4-FFF2-40B4-BE49-F238E27FC236}">
                <a16:creationId xmlns:a16="http://schemas.microsoft.com/office/drawing/2014/main" id="{3610E2B6-EB49-4680-9A99-6568A429E7F7}"/>
              </a:ext>
            </a:extLst>
          </p:cNvPr>
          <p:cNvSpPr>
            <a:spLocks xmlns:a="http://schemas.openxmlformats.org/drawingml/2006/main" noGrp="1"/>
          </p:cNvSpPr>
          <p:nvPr/>
        </p:nvSpPr>
        <p:spPr>
          <a:xfrm xmlns:a="http://schemas.openxmlformats.org/drawingml/2006/main">
            <a:off x="609600" y="4000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Control</a:t>
            </a:r>
          </a:p>
        </p:txBody>
      </p:sp>
      <p:sp>
        <p:nvSpPr>
          <p:cNvPr id="8" name="">
            <a:extLst xmlns:a="http://schemas.openxmlformats.org/drawingml/2006/main">
              <a:ext uri="{FF2B5EF4-FFF2-40B4-BE49-F238E27FC236}">
                <a16:creationId xmlns:a16="http://schemas.microsoft.com/office/drawing/2014/main" id="{55B2F658-6712-4C39-8C93-AD60CE364040}"/>
              </a:ext>
            </a:extLst>
          </p:cNvPr>
          <p:cNvSpPr>
            <a:spLocks xmlns:a="http://schemas.openxmlformats.org/drawingml/2006/main" noGrp="1"/>
          </p:cNvSpPr>
          <p:nvPr/>
        </p:nvSpPr>
        <p:spPr>
          <a:xfrm xmlns:a="http://schemas.openxmlformats.org/drawingml/2006/main">
            <a:off x="4000500" y="400050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A recommendation needs a reviewable change, approval and an audit trail.</a:t>
            </a:r>
          </a:p>
        </p:txBody>
      </p:sp>
    </p:spTree>
    <p:extLst>
      <p:ext uri="{BB962C8B-B14F-4D97-AF65-F5344CB8AC3E}">
        <p14:creationId xmlns:p14="http://schemas.microsoft.com/office/powerpoint/2010/main" val="1390681270"/>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F10F8D-43BF-448E-85B3-B9E5A04A4A3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The engineer review workflow</a:t>
            </a:r>
          </a:p>
        </p:txBody>
      </p:sp>
      <p:sp>
        <p:nvSpPr>
          <p:cNvPr id="2" name="">
            <a:extLst xmlns:a="http://schemas.openxmlformats.org/drawingml/2006/main">
              <a:ext uri="{FF2B5EF4-FFF2-40B4-BE49-F238E27FC236}">
                <a16:creationId xmlns:a16="http://schemas.microsoft.com/office/drawing/2014/main" id="{768D18C7-D59E-4AA6-8E6C-86285D0E1949}"/>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75B8605-E4CD-4C59-8736-CBE2E5A0D110}"/>
              </a:ext>
            </a:extLst>
          </p:cNvPr>
          <p:cNvSpPr>
            <a:spLocks xmlns:a="http://schemas.openxmlformats.org/drawingml/2006/main" noGrp="1"/>
          </p:cNvSpPr>
          <p:nvPr/>
        </p:nvSpPr>
        <p:spPr>
          <a:xfrm xmlns:a="http://schemas.openxmlformats.org/drawingml/2006/main">
            <a:off x="609600" y="19050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7F8B"/>
                </a:solidFill>
                <a:latin typeface="Arial"/>
                <a:ea typeface="Arial"/>
                <a:cs typeface="Arial"/>
              </a:defRPr>
            </a:defPPr>
            <a:lvl1pPr>
              <a:defRPr sz="2550" b="1">
                <a:solidFill>
                  <a:srgbClr val="007F8B"/>
                </a:solidFill>
                <a:latin typeface="Arial"/>
                <a:ea typeface="Arial"/>
                <a:cs typeface="Arial"/>
              </a:defRPr>
            </a:lvl1pPr>
            <a:lvl2pPr>
              <a:defRPr sz="2550" b="1">
                <a:solidFill>
                  <a:srgbClr val="007F8B"/>
                </a:solidFill>
                <a:latin typeface="Arial"/>
                <a:ea typeface="Arial"/>
                <a:cs typeface="Arial"/>
              </a:defRPr>
            </a:lvl2pPr>
            <a:lvl3pPr>
              <a:defRPr sz="2550" b="1">
                <a:solidFill>
                  <a:srgbClr val="007F8B"/>
                </a:solidFill>
                <a:latin typeface="Arial"/>
                <a:ea typeface="Arial"/>
                <a:cs typeface="Arial"/>
              </a:defRPr>
            </a:lvl3pPr>
            <a:lvl4pPr>
              <a:defRPr sz="2550" b="1">
                <a:solidFill>
                  <a:srgbClr val="007F8B"/>
                </a:solidFill>
                <a:latin typeface="Arial"/>
                <a:ea typeface="Arial"/>
                <a:cs typeface="Arial"/>
              </a:defRPr>
            </a:lvl4pPr>
            <a:lvl5pPr>
              <a:defRPr sz="2550" b="1">
                <a:solidFill>
                  <a:srgbClr val="007F8B"/>
                </a:solidFill>
                <a:latin typeface="Arial"/>
                <a:ea typeface="Arial"/>
                <a:cs typeface="Arial"/>
              </a:defRPr>
            </a:lvl5pPr>
            <a:lvl6pPr>
              <a:defRPr sz="2550" b="1">
                <a:solidFill>
                  <a:srgbClr val="007F8B"/>
                </a:solidFill>
                <a:latin typeface="Arial"/>
                <a:ea typeface="Arial"/>
                <a:cs typeface="Arial"/>
              </a:defRPr>
            </a:lvl6pPr>
            <a:lvl7pPr>
              <a:defRPr sz="2550" b="1">
                <a:solidFill>
                  <a:srgbClr val="007F8B"/>
                </a:solidFill>
                <a:latin typeface="Arial"/>
                <a:ea typeface="Arial"/>
                <a:cs typeface="Arial"/>
              </a:defRPr>
            </a:lvl7pPr>
            <a:lvl8pPr>
              <a:defRPr sz="2550" b="1">
                <a:solidFill>
                  <a:srgbClr val="007F8B"/>
                </a:solidFill>
                <a:latin typeface="Arial"/>
                <a:ea typeface="Arial"/>
                <a:cs typeface="Arial"/>
              </a:defRPr>
            </a:lvl8pPr>
            <a:lvl9pPr>
              <a:defRPr sz="2550" b="1">
                <a:solidFill>
                  <a:srgbClr val="007F8B"/>
                </a:solidFill>
                <a:latin typeface="Arial"/>
                <a:ea typeface="Arial"/>
                <a:cs typeface="Arial"/>
              </a:defRPr>
            </a:lvl9pPr>
          </a:lstStyle>
          <a:p xmlns:a="http://schemas.openxmlformats.org/drawingml/2006/main">
            <a:pPr>
              <a:defRPr sz="2550" b="1">
                <a:solidFill>
                  <a:srgbClr val="007F8B"/>
                </a:solidFill>
                <a:latin typeface="Arial"/>
                <a:ea typeface="Arial"/>
                <a:cs typeface="Arial"/>
              </a:defRPr>
            </a:pPr>
            <a:r>
              <a:rPr sz="2550" b="1">
                <a:solidFill>
                  <a:srgbClr val="007F8B"/>
                </a:solidFill>
                <a:latin typeface="Arial"/>
                <a:ea typeface="Arial"/>
                <a:cs typeface="Arial"/>
              </a:rPr>
              <a:t>Review each finding</a:t>
            </a:r>
          </a:p>
        </p:txBody>
      </p:sp>
      <p:sp>
        <p:nvSpPr>
          <p:cNvPr id="4" name="">
            <a:extLst xmlns:a="http://schemas.openxmlformats.org/drawingml/2006/main">
              <a:ext uri="{FF2B5EF4-FFF2-40B4-BE49-F238E27FC236}">
                <a16:creationId xmlns:a16="http://schemas.microsoft.com/office/drawing/2014/main" id="{D7ED15B6-7F15-4A26-B618-F29DB6CA1CD8}"/>
              </a:ext>
            </a:extLst>
          </p:cNvPr>
          <p:cNvSpPr>
            <a:spLocks xmlns:a="http://schemas.openxmlformats.org/drawingml/2006/main" noGrp="1"/>
          </p:cNvSpPr>
          <p:nvPr/>
        </p:nvSpPr>
        <p:spPr>
          <a:xfrm xmlns:a="http://schemas.openxmlformats.org/drawingml/2006/main">
            <a:off x="609600" y="276225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1. Inspect history and usage peaks.</a:t>
            </a:r>
          </a:p>
          <a:p xmlns:a="http://schemas.openxmlformats.org/drawingml/2006/main">
            <a:r>
              <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2. Compare candidate checks and blockers.</a:t>
            </a:r>
          </a:p>
          <a:p xmlns:a="http://schemas.openxmlformats.org/drawingml/2006/main">
            <a:r>
              <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3. Queue the finding for review.</a:t>
            </a:r>
          </a:p>
        </p:txBody>
      </p:sp>
      <p:pic>
        <p:nvPicPr>
          <p:cNvPr id="5" name="">
            <a:extLst xmlns:a="http://schemas.openxmlformats.org/drawingml/2006/main">
              <a:ext uri="{FF2B5EF4-FFF2-40B4-BE49-F238E27FC236}">
                <a16:creationId xmlns:a16="http://schemas.microsoft.com/office/drawing/2014/main" id="{99D0C120-921D-46B0-BDED-9087975437CE}"/>
              </a:ext>
            </a:extLst>
          </p:cNvPr>
          <p:cNvPicPr>
            <a:picLocks xmlns:a="http://schemas.openxmlformats.org/drawingml/2006/main" noChangeAspect="1"/>
          </p:cNvPicPr>
          <p:nvPr/>
        </p:nvPicPr>
        <p:blipFill>
          <a:blip xmlns:r="http://schemas.openxmlformats.org/officeDocument/2006/relationships" xmlns:a="http://schemas.openxmlformats.org/drawingml/2006/main" r:embed="Re52883d8a1024d2f"/>
          <a:stretch xmlns:a="http://schemas.openxmlformats.org/drawingml/2006/main"/>
        </p:blipFill>
        <p:spPr>
          <a:xfrm xmlns:a="http://schemas.openxmlformats.org/drawingml/2006/main">
            <a:off x="6632781" y="1428750"/>
            <a:ext cx="4355689" cy="4762500"/>
          </a:xfrm>
          <a:prstGeom xmlns:a="http://schemas.openxmlformats.org/drawingml/2006/main" prst="rect">
            <a:avLst/>
          </a:prstGeom>
        </p:spPr>
      </p:pic>
    </p:spTree>
    <p:extLst>
      <p:ext uri="{BB962C8B-B14F-4D97-AF65-F5344CB8AC3E}">
        <p14:creationId xmlns:p14="http://schemas.microsoft.com/office/powerpoint/2010/main" val="80392623"/>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98BFD4-B294-402E-92CD-D50D4334D2F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A reproducible synthetic benchmark</a:t>
            </a:r>
          </a:p>
        </p:txBody>
      </p:sp>
      <p:sp>
        <p:nvSpPr>
          <p:cNvPr id="2" name="">
            <a:extLst xmlns:a="http://schemas.openxmlformats.org/drawingml/2006/main">
              <a:ext uri="{FF2B5EF4-FFF2-40B4-BE49-F238E27FC236}">
                <a16:creationId xmlns:a16="http://schemas.microsoft.com/office/drawing/2014/main" id="{3383850C-2527-43AE-B094-0B9A6388C782}"/>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E2DF2141-34C1-4DEE-B3F9-746478904581}"/>
              </a:ext>
            </a:extLst>
          </p:cNvPr>
          <p:cNvSpPr>
            <a:spLocks xmlns:a="http://schemas.openxmlformats.org/drawingml/2006/main" noGrp="1"/>
          </p:cNvSpPr>
          <p:nvPr/>
        </p:nvSpPr>
        <p:spPr>
          <a:xfrm xmlns:a="http://schemas.openxmlformats.org/drawingml/2006/main">
            <a:off x="609600" y="16668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007F8B"/>
                </a:solidFill>
                <a:latin typeface="Arial"/>
                <a:ea typeface="Arial"/>
                <a:cs typeface="Arial"/>
              </a:defRPr>
            </a:defPPr>
            <a:lvl1pPr>
              <a:defRPr sz="6150" b="1">
                <a:solidFill>
                  <a:srgbClr val="007F8B"/>
                </a:solidFill>
                <a:latin typeface="Arial"/>
                <a:ea typeface="Arial"/>
                <a:cs typeface="Arial"/>
              </a:defRPr>
            </a:lvl1pPr>
            <a:lvl2pPr>
              <a:defRPr sz="6150" b="1">
                <a:solidFill>
                  <a:srgbClr val="007F8B"/>
                </a:solidFill>
                <a:latin typeface="Arial"/>
                <a:ea typeface="Arial"/>
                <a:cs typeface="Arial"/>
              </a:defRPr>
            </a:lvl2pPr>
            <a:lvl3pPr>
              <a:defRPr sz="6150" b="1">
                <a:solidFill>
                  <a:srgbClr val="007F8B"/>
                </a:solidFill>
                <a:latin typeface="Arial"/>
                <a:ea typeface="Arial"/>
                <a:cs typeface="Arial"/>
              </a:defRPr>
            </a:lvl3pPr>
            <a:lvl4pPr>
              <a:defRPr sz="6150" b="1">
                <a:solidFill>
                  <a:srgbClr val="007F8B"/>
                </a:solidFill>
                <a:latin typeface="Arial"/>
                <a:ea typeface="Arial"/>
                <a:cs typeface="Arial"/>
              </a:defRPr>
            </a:lvl4pPr>
            <a:lvl5pPr>
              <a:defRPr sz="6150" b="1">
                <a:solidFill>
                  <a:srgbClr val="007F8B"/>
                </a:solidFill>
                <a:latin typeface="Arial"/>
                <a:ea typeface="Arial"/>
                <a:cs typeface="Arial"/>
              </a:defRPr>
            </a:lvl5pPr>
            <a:lvl6pPr>
              <a:defRPr sz="6150" b="1">
                <a:solidFill>
                  <a:srgbClr val="007F8B"/>
                </a:solidFill>
                <a:latin typeface="Arial"/>
                <a:ea typeface="Arial"/>
                <a:cs typeface="Arial"/>
              </a:defRPr>
            </a:lvl6pPr>
            <a:lvl7pPr>
              <a:defRPr sz="6150" b="1">
                <a:solidFill>
                  <a:srgbClr val="007F8B"/>
                </a:solidFill>
                <a:latin typeface="Arial"/>
                <a:ea typeface="Arial"/>
                <a:cs typeface="Arial"/>
              </a:defRPr>
            </a:lvl7pPr>
            <a:lvl8pPr>
              <a:defRPr sz="6150" b="1">
                <a:solidFill>
                  <a:srgbClr val="007F8B"/>
                </a:solidFill>
                <a:latin typeface="Arial"/>
                <a:ea typeface="Arial"/>
                <a:cs typeface="Arial"/>
              </a:defRPr>
            </a:lvl8pPr>
            <a:lvl9pPr>
              <a:defRPr sz="6150" b="1">
                <a:solidFill>
                  <a:srgbClr val="007F8B"/>
                </a:solidFill>
                <a:latin typeface="Arial"/>
                <a:ea typeface="Arial"/>
                <a:cs typeface="Arial"/>
              </a:defRPr>
            </a:lvl9pPr>
          </a:lstStyle>
          <a:p xmlns:a="http://schemas.openxmlformats.org/drawingml/2006/main">
            <a:pPr>
              <a:defRPr sz="6150" b="1">
                <a:solidFill>
                  <a:srgbClr val="007F8B"/>
                </a:solidFill>
                <a:latin typeface="Arial"/>
                <a:ea typeface="Arial"/>
                <a:cs typeface="Arial"/>
              </a:defRPr>
            </a:pPr>
            <a:r>
              <a:rPr sz="6150" b="1">
                <a:solidFill>
                  <a:srgbClr val="007F8B"/>
                </a:solidFill>
                <a:latin typeface="Arial"/>
                <a:ea typeface="Arial"/>
                <a:cs typeface="Arial"/>
              </a:rPr>
              <a:t>200</a:t>
            </a:r>
          </a:p>
        </p:txBody>
      </p:sp>
      <p:sp>
        <p:nvSpPr>
          <p:cNvPr id="4" name="">
            <a:extLst xmlns:a="http://schemas.openxmlformats.org/drawingml/2006/main">
              <a:ext uri="{FF2B5EF4-FFF2-40B4-BE49-F238E27FC236}">
                <a16:creationId xmlns:a16="http://schemas.microsoft.com/office/drawing/2014/main" id="{24AFCAFC-FB1A-4191-9FDE-9280C9FB0919}"/>
              </a:ext>
            </a:extLst>
          </p:cNvPr>
          <p:cNvSpPr>
            <a:spLocks xmlns:a="http://schemas.openxmlformats.org/drawingml/2006/main" noGrp="1"/>
          </p:cNvSpPr>
          <p:nvPr/>
        </p:nvSpPr>
        <p:spPr>
          <a:xfrm xmlns:a="http://schemas.openxmlformats.org/drawingml/2006/main">
            <a:off x="609600" y="261937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resources</a:t>
            </a:r>
          </a:p>
        </p:txBody>
      </p:sp>
      <p:sp>
        <p:nvSpPr>
          <p:cNvPr id="5" name="">
            <a:extLst xmlns:a="http://schemas.openxmlformats.org/drawingml/2006/main">
              <a:ext uri="{FF2B5EF4-FFF2-40B4-BE49-F238E27FC236}">
                <a16:creationId xmlns:a16="http://schemas.microsoft.com/office/drawing/2014/main" id="{846EFB13-2B35-4BA6-AB9A-146559EC9036}"/>
              </a:ext>
            </a:extLst>
          </p:cNvPr>
          <p:cNvSpPr>
            <a:spLocks xmlns:a="http://schemas.openxmlformats.org/drawingml/2006/main" noGrp="1"/>
          </p:cNvSpPr>
          <p:nvPr/>
        </p:nvSpPr>
        <p:spPr>
          <a:xfrm xmlns:a="http://schemas.openxmlformats.org/drawingml/2006/main">
            <a:off x="609600" y="3429000"/>
            <a:ext cx="3429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43A"/>
                </a:solidFill>
                <a:latin typeface="Arial"/>
                <a:ea typeface="Arial"/>
                <a:cs typeface="Arial"/>
              </a:defRPr>
            </a:defPPr>
            <a:lvl1pPr>
              <a:defRPr sz="2250" b="0">
                <a:solidFill>
                  <a:srgbClr val="10243A"/>
                </a:solidFill>
                <a:latin typeface="Arial"/>
                <a:ea typeface="Arial"/>
                <a:cs typeface="Arial"/>
              </a:defRPr>
            </a:lvl1pPr>
            <a:lvl2pPr>
              <a:defRPr sz="2250" b="0">
                <a:solidFill>
                  <a:srgbClr val="10243A"/>
                </a:solidFill>
                <a:latin typeface="Arial"/>
                <a:ea typeface="Arial"/>
                <a:cs typeface="Arial"/>
              </a:defRPr>
            </a:lvl2pPr>
            <a:lvl3pPr>
              <a:defRPr sz="2250" b="0">
                <a:solidFill>
                  <a:srgbClr val="10243A"/>
                </a:solidFill>
                <a:latin typeface="Arial"/>
                <a:ea typeface="Arial"/>
                <a:cs typeface="Arial"/>
              </a:defRPr>
            </a:lvl3pPr>
            <a:lvl4pPr>
              <a:defRPr sz="2250" b="0">
                <a:solidFill>
                  <a:srgbClr val="10243A"/>
                </a:solidFill>
                <a:latin typeface="Arial"/>
                <a:ea typeface="Arial"/>
                <a:cs typeface="Arial"/>
              </a:defRPr>
            </a:lvl4pPr>
            <a:lvl5pPr>
              <a:defRPr sz="2250" b="0">
                <a:solidFill>
                  <a:srgbClr val="10243A"/>
                </a:solidFill>
                <a:latin typeface="Arial"/>
                <a:ea typeface="Arial"/>
                <a:cs typeface="Arial"/>
              </a:defRPr>
            </a:lvl5pPr>
            <a:lvl6pPr>
              <a:defRPr sz="2250" b="0">
                <a:solidFill>
                  <a:srgbClr val="10243A"/>
                </a:solidFill>
                <a:latin typeface="Arial"/>
                <a:ea typeface="Arial"/>
                <a:cs typeface="Arial"/>
              </a:defRPr>
            </a:lvl6pPr>
            <a:lvl7pPr>
              <a:defRPr sz="2250" b="0">
                <a:solidFill>
                  <a:srgbClr val="10243A"/>
                </a:solidFill>
                <a:latin typeface="Arial"/>
                <a:ea typeface="Arial"/>
                <a:cs typeface="Arial"/>
              </a:defRPr>
            </a:lvl7pPr>
            <a:lvl8pPr>
              <a:defRPr sz="2250" b="0">
                <a:solidFill>
                  <a:srgbClr val="10243A"/>
                </a:solidFill>
                <a:latin typeface="Arial"/>
                <a:ea typeface="Arial"/>
                <a:cs typeface="Arial"/>
              </a:defRPr>
            </a:lvl8pPr>
            <a:lvl9pPr>
              <a:defRPr sz="2250" b="0">
                <a:solidFill>
                  <a:srgbClr val="10243A"/>
                </a:solidFill>
                <a:latin typeface="Arial"/>
                <a:ea typeface="Arial"/>
                <a:cs typeface="Arial"/>
              </a:defRPr>
            </a:lvl9pPr>
          </a:lstStyle>
          <a:p xmlns:a="http://schemas.openxmlformats.org/drawingml/2006/main">
            <a:pPr>
              <a:defRPr sz="2250" b="0">
                <a:solidFill>
                  <a:srgbClr val="10243A"/>
                </a:solidFill>
                <a:latin typeface="Arial"/>
                <a:ea typeface="Arial"/>
                <a:cs typeface="Arial"/>
              </a:defRPr>
            </a:pPr>
            <a:r>
              <a:rPr sz="2250" b="0">
                <a:solidFill>
                  <a:srgbClr val="10243A"/>
                </a:solidFill>
                <a:latin typeface="Arial"/>
                <a:ea typeface="Arial"/>
                <a:cs typeface="Arial"/>
              </a:rPr>
              <a:t>150 VMs</a:t>
            </a:r>
          </a:p>
          <a:p xmlns:a="http://schemas.openxmlformats.org/drawingml/2006/main">
            <a:pPr>
              <a:defRPr sz="2250" b="0">
                <a:solidFill>
                  <a:srgbClr val="10243A"/>
                </a:solidFill>
                <a:latin typeface="Arial"/>
                <a:ea typeface="Arial"/>
                <a:cs typeface="Arial"/>
              </a:defRPr>
            </a:pPr>
            <a:r>
              <a:rPr sz="2250" b="0">
                <a:solidFill>
                  <a:srgbClr val="10243A"/>
                </a:solidFill>
                <a:latin typeface="Arial"/>
                <a:ea typeface="Arial"/>
                <a:cs typeface="Arial"/>
              </a:rPr>
              <a:t>20 block volumes</a:t>
            </a:r>
          </a:p>
          <a:p xmlns:a="http://schemas.openxmlformats.org/drawingml/2006/main">
            <a:pPr>
              <a:defRPr sz="2250" b="0">
                <a:solidFill>
                  <a:srgbClr val="10243A"/>
                </a:solidFill>
                <a:latin typeface="Arial"/>
                <a:ea typeface="Arial"/>
                <a:cs typeface="Arial"/>
              </a:defRPr>
            </a:pPr>
            <a:r>
              <a:rPr sz="2250" b="0">
                <a:solidFill>
                  <a:srgbClr val="10243A"/>
                </a:solidFill>
                <a:latin typeface="Arial"/>
                <a:ea typeface="Arial"/>
                <a:cs typeface="Arial"/>
              </a:rPr>
              <a:t>20 public IPs</a:t>
            </a:r>
          </a:p>
          <a:p xmlns:a="http://schemas.openxmlformats.org/drawingml/2006/main">
            <a:pPr>
              <a:defRPr sz="2250" b="0">
                <a:solidFill>
                  <a:srgbClr val="10243A"/>
                </a:solidFill>
                <a:latin typeface="Arial"/>
                <a:ea typeface="Arial"/>
                <a:cs typeface="Arial"/>
              </a:defRPr>
            </a:pPr>
            <a:r>
              <a:rPr sz="2250" b="0">
                <a:solidFill>
                  <a:srgbClr val="10243A"/>
                </a:solidFill>
                <a:latin typeface="Arial"/>
                <a:ea typeface="Arial"/>
                <a:cs typeface="Arial"/>
              </a:rPr>
              <a:t>10 GPUs</a:t>
            </a:r>
          </a:p>
        </p:txBody>
      </p:sp>
      <p:sp>
        <p:nvSpPr>
          <p:cNvPr id="6" name="">
            <a:extLst xmlns:a="http://schemas.openxmlformats.org/drawingml/2006/main">
              <a:ext uri="{FF2B5EF4-FFF2-40B4-BE49-F238E27FC236}">
                <a16:creationId xmlns:a16="http://schemas.microsoft.com/office/drawing/2014/main" id="{E66B8648-DEDE-40DF-B38F-4E2F78B5F736}"/>
              </a:ext>
            </a:extLst>
          </p:cNvPr>
          <p:cNvSpPr>
            <a:spLocks xmlns:a="http://schemas.openxmlformats.org/drawingml/2006/main" noGrp="1"/>
          </p:cNvSpPr>
          <p:nvPr/>
        </p:nvSpPr>
        <p:spPr>
          <a:xfrm xmlns:a="http://schemas.openxmlformats.org/drawingml/2006/main">
            <a:off x="4762500" y="171450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43A"/>
                </a:solidFill>
                <a:latin typeface="Arial"/>
                <a:ea typeface="Arial"/>
                <a:cs typeface="Arial"/>
              </a:defRPr>
            </a:defPPr>
            <a:lvl1pPr>
              <a:defRPr sz="2700" b="1">
                <a:solidFill>
                  <a:srgbClr val="10243A"/>
                </a:solidFill>
                <a:latin typeface="Arial"/>
                <a:ea typeface="Arial"/>
                <a:cs typeface="Arial"/>
              </a:defRPr>
            </a:lvl1pPr>
            <a:lvl2pPr>
              <a:defRPr sz="2700" b="1">
                <a:solidFill>
                  <a:srgbClr val="10243A"/>
                </a:solidFill>
                <a:latin typeface="Arial"/>
                <a:ea typeface="Arial"/>
                <a:cs typeface="Arial"/>
              </a:defRPr>
            </a:lvl2pPr>
            <a:lvl3pPr>
              <a:defRPr sz="2700" b="1">
                <a:solidFill>
                  <a:srgbClr val="10243A"/>
                </a:solidFill>
                <a:latin typeface="Arial"/>
                <a:ea typeface="Arial"/>
                <a:cs typeface="Arial"/>
              </a:defRPr>
            </a:lvl3pPr>
            <a:lvl4pPr>
              <a:defRPr sz="2700" b="1">
                <a:solidFill>
                  <a:srgbClr val="10243A"/>
                </a:solidFill>
                <a:latin typeface="Arial"/>
                <a:ea typeface="Arial"/>
                <a:cs typeface="Arial"/>
              </a:defRPr>
            </a:lvl4pPr>
            <a:lvl5pPr>
              <a:defRPr sz="2700" b="1">
                <a:solidFill>
                  <a:srgbClr val="10243A"/>
                </a:solidFill>
                <a:latin typeface="Arial"/>
                <a:ea typeface="Arial"/>
                <a:cs typeface="Arial"/>
              </a:defRPr>
            </a:lvl5pPr>
            <a:lvl6pPr>
              <a:defRPr sz="2700" b="1">
                <a:solidFill>
                  <a:srgbClr val="10243A"/>
                </a:solidFill>
                <a:latin typeface="Arial"/>
                <a:ea typeface="Arial"/>
                <a:cs typeface="Arial"/>
              </a:defRPr>
            </a:lvl6pPr>
            <a:lvl7pPr>
              <a:defRPr sz="2700" b="1">
                <a:solidFill>
                  <a:srgbClr val="10243A"/>
                </a:solidFill>
                <a:latin typeface="Arial"/>
                <a:ea typeface="Arial"/>
                <a:cs typeface="Arial"/>
              </a:defRPr>
            </a:lvl7pPr>
            <a:lvl8pPr>
              <a:defRPr sz="2700" b="1">
                <a:solidFill>
                  <a:srgbClr val="10243A"/>
                </a:solidFill>
                <a:latin typeface="Arial"/>
                <a:ea typeface="Arial"/>
                <a:cs typeface="Arial"/>
              </a:defRPr>
            </a:lvl8pPr>
            <a:lvl9pPr>
              <a:defRPr sz="2700" b="1">
                <a:solidFill>
                  <a:srgbClr val="10243A"/>
                </a:solidFill>
                <a:latin typeface="Arial"/>
                <a:ea typeface="Arial"/>
                <a:cs typeface="Arial"/>
              </a:defRPr>
            </a:lvl9pPr>
          </a:lstStyle>
          <a:p xmlns:a="http://schemas.openxmlformats.org/drawingml/2006/main">
            <a:pPr>
              <a:defRPr sz="2700" b="1">
                <a:solidFill>
                  <a:srgbClr val="10243A"/>
                </a:solidFill>
                <a:latin typeface="Arial"/>
                <a:ea typeface="Arial"/>
                <a:cs typeface="Arial"/>
              </a:defRPr>
            </a:pPr>
            <a:r>
              <a:rPr sz="2700" b="1">
                <a:solidFill>
                  <a:srgbClr val="10243A"/>
                </a:solidFill>
                <a:latin typeface="Arial"/>
                <a:ea typeface="Arial"/>
                <a:cs typeface="Arial"/>
              </a:rPr>
              <a:t>30 days at 15-minute intervals</a:t>
            </a:r>
          </a:p>
        </p:txBody>
      </p:sp>
      <p:sp>
        <p:nvSpPr>
          <p:cNvPr id="7" name="">
            <a:extLst xmlns:a="http://schemas.openxmlformats.org/drawingml/2006/main">
              <a:ext uri="{FF2B5EF4-FFF2-40B4-BE49-F238E27FC236}">
                <a16:creationId xmlns:a16="http://schemas.microsoft.com/office/drawing/2014/main" id="{AB011372-EDF2-4AE0-9297-88ED8C103A4D}"/>
              </a:ext>
            </a:extLst>
          </p:cNvPr>
          <p:cNvSpPr>
            <a:spLocks xmlns:a="http://schemas.openxmlformats.org/drawingml/2006/main" noGrp="1"/>
          </p:cNvSpPr>
          <p:nvPr/>
        </p:nvSpPr>
        <p:spPr>
          <a:xfrm xmlns:a="http://schemas.openxmlformats.org/drawingml/2006/main">
            <a:off x="4762500" y="2714625"/>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0243A"/>
                </a:solidFill>
                <a:latin typeface="Arial"/>
                <a:ea typeface="Arial"/>
                <a:cs typeface="Arial"/>
              </a:defRPr>
            </a:defPPr>
            <a:lvl1pPr>
              <a:defRPr sz="2175" b="0">
                <a:solidFill>
                  <a:srgbClr val="10243A"/>
                </a:solidFill>
                <a:latin typeface="Arial"/>
                <a:ea typeface="Arial"/>
                <a:cs typeface="Arial"/>
              </a:defRPr>
            </a:lvl1pPr>
            <a:lvl2pPr>
              <a:defRPr sz="2175" b="0">
                <a:solidFill>
                  <a:srgbClr val="10243A"/>
                </a:solidFill>
                <a:latin typeface="Arial"/>
                <a:ea typeface="Arial"/>
                <a:cs typeface="Arial"/>
              </a:defRPr>
            </a:lvl2pPr>
            <a:lvl3pPr>
              <a:defRPr sz="2175" b="0">
                <a:solidFill>
                  <a:srgbClr val="10243A"/>
                </a:solidFill>
                <a:latin typeface="Arial"/>
                <a:ea typeface="Arial"/>
                <a:cs typeface="Arial"/>
              </a:defRPr>
            </a:lvl3pPr>
            <a:lvl4pPr>
              <a:defRPr sz="2175" b="0">
                <a:solidFill>
                  <a:srgbClr val="10243A"/>
                </a:solidFill>
                <a:latin typeface="Arial"/>
                <a:ea typeface="Arial"/>
                <a:cs typeface="Arial"/>
              </a:defRPr>
            </a:lvl4pPr>
            <a:lvl5pPr>
              <a:defRPr sz="2175" b="0">
                <a:solidFill>
                  <a:srgbClr val="10243A"/>
                </a:solidFill>
                <a:latin typeface="Arial"/>
                <a:ea typeface="Arial"/>
                <a:cs typeface="Arial"/>
              </a:defRPr>
            </a:lvl5pPr>
            <a:lvl6pPr>
              <a:defRPr sz="2175" b="0">
                <a:solidFill>
                  <a:srgbClr val="10243A"/>
                </a:solidFill>
                <a:latin typeface="Arial"/>
                <a:ea typeface="Arial"/>
                <a:cs typeface="Arial"/>
              </a:defRPr>
            </a:lvl6pPr>
            <a:lvl7pPr>
              <a:defRPr sz="2175" b="0">
                <a:solidFill>
                  <a:srgbClr val="10243A"/>
                </a:solidFill>
                <a:latin typeface="Arial"/>
                <a:ea typeface="Arial"/>
                <a:cs typeface="Arial"/>
              </a:defRPr>
            </a:lvl7pPr>
            <a:lvl8pPr>
              <a:defRPr sz="2175" b="0">
                <a:solidFill>
                  <a:srgbClr val="10243A"/>
                </a:solidFill>
                <a:latin typeface="Arial"/>
                <a:ea typeface="Arial"/>
                <a:cs typeface="Arial"/>
              </a:defRPr>
            </a:lvl8pPr>
            <a:lvl9pPr>
              <a:defRPr sz="2175" b="0">
                <a:solidFill>
                  <a:srgbClr val="10243A"/>
                </a:solidFill>
                <a:latin typeface="Arial"/>
                <a:ea typeface="Arial"/>
                <a:cs typeface="Arial"/>
              </a:defRPr>
            </a:lvl9pPr>
          </a:lstStyle>
          <a:p xmlns:a="http://schemas.openxmlformats.org/drawingml/2006/main">
            <a:pPr>
              <a:defRPr sz="2175" b="0">
                <a:solidFill>
                  <a:srgbClr val="10243A"/>
                </a:solidFill>
                <a:latin typeface="Arial"/>
                <a:ea typeface="Arial"/>
                <a:cs typeface="Arial"/>
              </a:defRPr>
            </a:pPr>
            <a:r>
              <a:rPr sz="2175" b="0">
                <a:solidFill>
                  <a:srgbClr val="10243A"/>
                </a:solidFill>
                <a:latin typeface="Arial"/>
                <a:ea typeface="Arial"/>
                <a:cs typeface="Arial"/>
              </a:rPr>
              <a:t>432,000 VM telemetry rows</a:t>
            </a:r>
          </a:p>
          <a:p xmlns:a="http://schemas.openxmlformats.org/drawingml/2006/main">
            <a:pPr>
              <a:defRPr sz="2175" b="0">
                <a:solidFill>
                  <a:srgbClr val="10243A"/>
                </a:solidFill>
                <a:latin typeface="Arial"/>
                <a:ea typeface="Arial"/>
                <a:cs typeface="Arial"/>
              </a:defRPr>
            </a:pPr>
            <a:r>
              <a:rPr sz="2175" b="0">
                <a:solidFill>
                  <a:srgbClr val="10243A"/>
                </a:solidFill>
                <a:latin typeface="Arial"/>
                <a:ea typeface="Arial"/>
                <a:cs typeface="Arial"/>
              </a:rPr>
              <a:t>28,800 GPU telemetry rows</a:t>
            </a:r>
          </a:p>
          <a:p xmlns:a="http://schemas.openxmlformats.org/drawingml/2006/main">
            <a:pPr>
              <a:defRPr sz="2175" b="0">
                <a:solidFill>
                  <a:srgbClr val="10243A"/>
                </a:solidFill>
                <a:latin typeface="Arial"/>
                <a:ea typeface="Arial"/>
                <a:cs typeface="Arial"/>
              </a:defRPr>
            </a:pPr>
            <a:r>
              <a:rPr sz="2175" b="0">
                <a:solidFill>
                  <a:srgbClr val="10243A"/>
                </a:solidFill>
                <a:latin typeface="Arial"/>
                <a:ea typeface="Arial"/>
                <a:cs typeface="Arial"/>
              </a:rPr>
              <a:t>2,880 VM rows mark missing observations</a:t>
            </a:r>
          </a:p>
        </p:txBody>
      </p:sp>
      <p:sp>
        <p:nvSpPr>
          <p:cNvPr id="8" name="">
            <a:extLst xmlns:a="http://schemas.openxmlformats.org/drawingml/2006/main">
              <a:ext uri="{FF2B5EF4-FFF2-40B4-BE49-F238E27FC236}">
                <a16:creationId xmlns:a16="http://schemas.microsoft.com/office/drawing/2014/main" id="{F71C0395-78F7-41CC-9CD0-284E45EE4C11}"/>
              </a:ext>
            </a:extLst>
          </p:cNvPr>
          <p:cNvSpPr>
            <a:spLocks xmlns:a="http://schemas.openxmlformats.org/drawingml/2006/main" noGrp="1"/>
          </p:cNvSpPr>
          <p:nvPr/>
        </p:nvSpPr>
        <p:spPr>
          <a:xfrm xmlns:a="http://schemas.openxmlformats.org/drawingml/2006/main">
            <a:off x="4762500" y="4810125"/>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479"/>
                </a:solidFill>
                <a:latin typeface="Arial"/>
                <a:ea typeface="Arial"/>
                <a:cs typeface="Arial"/>
              </a:defRPr>
            </a:defPPr>
            <a:lvl1pPr>
              <a:defRPr sz="1800" b="0">
                <a:solidFill>
                  <a:srgbClr val="536479"/>
                </a:solidFill>
                <a:latin typeface="Arial"/>
                <a:ea typeface="Arial"/>
                <a:cs typeface="Arial"/>
              </a:defRPr>
            </a:lvl1pPr>
            <a:lvl2pPr>
              <a:defRPr sz="1800" b="0">
                <a:solidFill>
                  <a:srgbClr val="536479"/>
                </a:solidFill>
                <a:latin typeface="Arial"/>
                <a:ea typeface="Arial"/>
                <a:cs typeface="Arial"/>
              </a:defRPr>
            </a:lvl2pPr>
            <a:lvl3pPr>
              <a:defRPr sz="1800" b="0">
                <a:solidFill>
                  <a:srgbClr val="536479"/>
                </a:solidFill>
                <a:latin typeface="Arial"/>
                <a:ea typeface="Arial"/>
                <a:cs typeface="Arial"/>
              </a:defRPr>
            </a:lvl3pPr>
            <a:lvl4pPr>
              <a:defRPr sz="1800" b="0">
                <a:solidFill>
                  <a:srgbClr val="536479"/>
                </a:solidFill>
                <a:latin typeface="Arial"/>
                <a:ea typeface="Arial"/>
                <a:cs typeface="Arial"/>
              </a:defRPr>
            </a:lvl4pPr>
            <a:lvl5pPr>
              <a:defRPr sz="1800" b="0">
                <a:solidFill>
                  <a:srgbClr val="536479"/>
                </a:solidFill>
                <a:latin typeface="Arial"/>
                <a:ea typeface="Arial"/>
                <a:cs typeface="Arial"/>
              </a:defRPr>
            </a:lvl5pPr>
            <a:lvl6pPr>
              <a:defRPr sz="1800" b="0">
                <a:solidFill>
                  <a:srgbClr val="536479"/>
                </a:solidFill>
                <a:latin typeface="Arial"/>
                <a:ea typeface="Arial"/>
                <a:cs typeface="Arial"/>
              </a:defRPr>
            </a:lvl6pPr>
            <a:lvl7pPr>
              <a:defRPr sz="1800" b="0">
                <a:solidFill>
                  <a:srgbClr val="536479"/>
                </a:solidFill>
                <a:latin typeface="Arial"/>
                <a:ea typeface="Arial"/>
                <a:cs typeface="Arial"/>
              </a:defRPr>
            </a:lvl7pPr>
            <a:lvl8pPr>
              <a:defRPr sz="1800" b="0">
                <a:solidFill>
                  <a:srgbClr val="536479"/>
                </a:solidFill>
                <a:latin typeface="Arial"/>
                <a:ea typeface="Arial"/>
                <a:cs typeface="Arial"/>
              </a:defRPr>
            </a:lvl8pPr>
            <a:lvl9pPr>
              <a:defRPr sz="1800" b="0">
                <a:solidFill>
                  <a:srgbClr val="536479"/>
                </a:solidFill>
                <a:latin typeface="Arial"/>
                <a:ea typeface="Arial"/>
                <a:cs typeface="Arial"/>
              </a:defRPr>
            </a:lvl9pPr>
          </a:lstStyle>
          <a:p xmlns:a="http://schemas.openxmlformats.org/drawingml/2006/main">
            <a:pPr>
              <a:defRPr sz="1800" b="0">
                <a:solidFill>
                  <a:srgbClr val="536479"/>
                </a:solidFill>
                <a:latin typeface="Arial"/>
                <a:ea typeface="Arial"/>
                <a:cs typeface="Arial"/>
              </a:defRPr>
            </a:pPr>
            <a:r>
              <a:rPr sz="1800" b="0">
                <a:solidFill>
                  <a:srgbClr val="536479"/>
                </a:solidFill>
                <a:latin typeface="Arial"/>
                <a:ea typeface="Arial"/>
                <a:cs typeface="Arial"/>
              </a:rPr>
              <a:t>Observed window: 1–30 August 2026</a:t>
            </a:r>
          </a:p>
          <a:p xmlns:a="http://schemas.openxmlformats.org/drawingml/2006/main">
            <a:pPr>
              <a:defRPr sz="1800" b="0">
                <a:solidFill>
                  <a:srgbClr val="536479"/>
                </a:solidFill>
                <a:latin typeface="Arial"/>
                <a:ea typeface="Arial"/>
                <a:cs typeface="Arial"/>
              </a:defRPr>
            </a:pPr>
            <a:r>
              <a:rPr sz="1800" b="0">
                <a:solidFill>
                  <a:srgbClr val="536479"/>
                </a:solidFill>
                <a:latin typeface="Arial"/>
                <a:ea typeface="Arial"/>
                <a:cs typeface="Arial"/>
              </a:rPr>
              <a:t>Naive timestamps use an unverified UTC assumption</a:t>
            </a:r>
          </a:p>
        </p:txBody>
      </p:sp>
    </p:spTree>
    <p:extLst>
      <p:ext uri="{BB962C8B-B14F-4D97-AF65-F5344CB8AC3E}">
        <p14:creationId xmlns:p14="http://schemas.microsoft.com/office/powerpoint/2010/main" val="1292447797"/>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8A0FCD-CC5D-4C3B-AFC7-81294C27A7FA}"/>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Peak demand and stress replay guide sizing</a:t>
            </a:r>
          </a:p>
        </p:txBody>
      </p:sp>
      <p:sp>
        <p:nvSpPr>
          <p:cNvPr id="2" name="">
            <a:extLst xmlns:a="http://schemas.openxmlformats.org/drawingml/2006/main">
              <a:ext uri="{FF2B5EF4-FFF2-40B4-BE49-F238E27FC236}">
                <a16:creationId xmlns:a16="http://schemas.microsoft.com/office/drawing/2014/main" id="{BE845361-0D0F-436D-87C2-538F42267635}"/>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A1FBDC86-F5D6-40B9-9B5A-4A131537910D}"/>
              </a:ext>
            </a:extLst>
          </p:cNvPr>
          <p:cNvSpPr>
            <a:spLocks xmlns:a="http://schemas.openxmlformats.org/drawingml/2006/main" noGrp="1"/>
          </p:cNvSpPr>
          <p:nvPr/>
        </p:nvSpPr>
        <p:spPr>
          <a:xfrm xmlns:a="http://schemas.openxmlformats.org/drawingml/2006/main">
            <a:off x="609600" y="150495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8B"/>
                </a:solidFill>
                <a:latin typeface="Arial"/>
                <a:ea typeface="Arial"/>
                <a:cs typeface="Arial"/>
              </a:defRPr>
            </a:defPPr>
            <a:lvl1pPr>
              <a:defRPr sz="2175" b="1">
                <a:solidFill>
                  <a:srgbClr val="007F8B"/>
                </a:solidFill>
                <a:latin typeface="Arial"/>
                <a:ea typeface="Arial"/>
                <a:cs typeface="Arial"/>
              </a:defRPr>
            </a:lvl1pPr>
            <a:lvl2pPr>
              <a:defRPr sz="2175" b="1">
                <a:solidFill>
                  <a:srgbClr val="007F8B"/>
                </a:solidFill>
                <a:latin typeface="Arial"/>
                <a:ea typeface="Arial"/>
                <a:cs typeface="Arial"/>
              </a:defRPr>
            </a:lvl2pPr>
            <a:lvl3pPr>
              <a:defRPr sz="2175" b="1">
                <a:solidFill>
                  <a:srgbClr val="007F8B"/>
                </a:solidFill>
                <a:latin typeface="Arial"/>
                <a:ea typeface="Arial"/>
                <a:cs typeface="Arial"/>
              </a:defRPr>
            </a:lvl3pPr>
            <a:lvl4pPr>
              <a:defRPr sz="2175" b="1">
                <a:solidFill>
                  <a:srgbClr val="007F8B"/>
                </a:solidFill>
                <a:latin typeface="Arial"/>
                <a:ea typeface="Arial"/>
                <a:cs typeface="Arial"/>
              </a:defRPr>
            </a:lvl4pPr>
            <a:lvl5pPr>
              <a:defRPr sz="2175" b="1">
                <a:solidFill>
                  <a:srgbClr val="007F8B"/>
                </a:solidFill>
                <a:latin typeface="Arial"/>
                <a:ea typeface="Arial"/>
                <a:cs typeface="Arial"/>
              </a:defRPr>
            </a:lvl5pPr>
            <a:lvl6pPr>
              <a:defRPr sz="2175" b="1">
                <a:solidFill>
                  <a:srgbClr val="007F8B"/>
                </a:solidFill>
                <a:latin typeface="Arial"/>
                <a:ea typeface="Arial"/>
                <a:cs typeface="Arial"/>
              </a:defRPr>
            </a:lvl6pPr>
            <a:lvl7pPr>
              <a:defRPr sz="2175" b="1">
                <a:solidFill>
                  <a:srgbClr val="007F8B"/>
                </a:solidFill>
                <a:latin typeface="Arial"/>
                <a:ea typeface="Arial"/>
                <a:cs typeface="Arial"/>
              </a:defRPr>
            </a:lvl7pPr>
            <a:lvl8pPr>
              <a:defRPr sz="2175" b="1">
                <a:solidFill>
                  <a:srgbClr val="007F8B"/>
                </a:solidFill>
                <a:latin typeface="Arial"/>
                <a:ea typeface="Arial"/>
                <a:cs typeface="Arial"/>
              </a:defRPr>
            </a:lvl8pPr>
            <a:lvl9pPr>
              <a:defRPr sz="2175" b="1">
                <a:solidFill>
                  <a:srgbClr val="007F8B"/>
                </a:solidFill>
                <a:latin typeface="Arial"/>
                <a:ea typeface="Arial"/>
                <a:cs typeface="Arial"/>
              </a:defRPr>
            </a:lvl9pPr>
          </a:lstStyle>
          <a:p xmlns:a="http://schemas.openxmlformats.org/drawingml/2006/main">
            <a:pPr>
              <a:defRPr sz="2175" b="1">
                <a:solidFill>
                  <a:srgbClr val="007F8B"/>
                </a:solidFill>
                <a:latin typeface="Arial"/>
                <a:ea typeface="Arial"/>
                <a:cs typeface="Arial"/>
              </a:defRPr>
            </a:pPr>
            <a:r>
              <a:rPr sz="2175" b="1">
                <a:solidFill>
                  <a:srgbClr val="007F8B"/>
                </a:solidFill>
                <a:latin typeface="Arial"/>
                <a:ea typeface="Arial"/>
                <a:cs typeface="Arial"/>
              </a:rPr>
              <a:t>Validate data quality. Enumerate plans. Retain every failed or unknown gate.</a:t>
            </a:r>
          </a:p>
        </p:txBody>
      </p:sp>
      <p:sp>
        <p:nvSpPr>
          <p:cNvPr id="4" name="">
            <a:extLst xmlns:a="http://schemas.openxmlformats.org/drawingml/2006/main">
              <a:ext uri="{FF2B5EF4-FFF2-40B4-BE49-F238E27FC236}">
                <a16:creationId xmlns:a16="http://schemas.microsoft.com/office/drawing/2014/main" id="{BDA0FC97-134C-4EFA-B571-4D16FB3E8A80}"/>
              </a:ext>
            </a:extLst>
          </p:cNvPr>
          <p:cNvSpPr>
            <a:spLocks xmlns:a="http://schemas.openxmlformats.org/drawingml/2006/main" noGrp="1"/>
          </p:cNvSpPr>
          <p:nvPr/>
        </p:nvSpPr>
        <p:spPr>
          <a:xfrm xmlns:a="http://schemas.openxmlformats.org/drawingml/2006/main">
            <a:off x="609600" y="2714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243A"/>
                </a:solidFill>
                <a:latin typeface="Arial"/>
                <a:ea typeface="Arial"/>
                <a:cs typeface="Arial"/>
              </a:defRPr>
            </a:defPPr>
            <a:lvl1pPr>
              <a:defRPr sz="2400" b="1">
                <a:solidFill>
                  <a:srgbClr val="10243A"/>
                </a:solidFill>
                <a:latin typeface="Arial"/>
                <a:ea typeface="Arial"/>
                <a:cs typeface="Arial"/>
              </a:defRPr>
            </a:lvl1pPr>
            <a:lvl2pPr>
              <a:defRPr sz="2400" b="1">
                <a:solidFill>
                  <a:srgbClr val="10243A"/>
                </a:solidFill>
                <a:latin typeface="Arial"/>
                <a:ea typeface="Arial"/>
                <a:cs typeface="Arial"/>
              </a:defRPr>
            </a:lvl2pPr>
            <a:lvl3pPr>
              <a:defRPr sz="2400" b="1">
                <a:solidFill>
                  <a:srgbClr val="10243A"/>
                </a:solidFill>
                <a:latin typeface="Arial"/>
                <a:ea typeface="Arial"/>
                <a:cs typeface="Arial"/>
              </a:defRPr>
            </a:lvl3pPr>
            <a:lvl4pPr>
              <a:defRPr sz="2400" b="1">
                <a:solidFill>
                  <a:srgbClr val="10243A"/>
                </a:solidFill>
                <a:latin typeface="Arial"/>
                <a:ea typeface="Arial"/>
                <a:cs typeface="Arial"/>
              </a:defRPr>
            </a:lvl4pPr>
            <a:lvl5pPr>
              <a:defRPr sz="2400" b="1">
                <a:solidFill>
                  <a:srgbClr val="10243A"/>
                </a:solidFill>
                <a:latin typeface="Arial"/>
                <a:ea typeface="Arial"/>
                <a:cs typeface="Arial"/>
              </a:defRPr>
            </a:lvl5pPr>
            <a:lvl6pPr>
              <a:defRPr sz="2400" b="1">
                <a:solidFill>
                  <a:srgbClr val="10243A"/>
                </a:solidFill>
                <a:latin typeface="Arial"/>
                <a:ea typeface="Arial"/>
                <a:cs typeface="Arial"/>
              </a:defRPr>
            </a:lvl6pPr>
            <a:lvl7pPr>
              <a:defRPr sz="2400" b="1">
                <a:solidFill>
                  <a:srgbClr val="10243A"/>
                </a:solidFill>
                <a:latin typeface="Arial"/>
                <a:ea typeface="Arial"/>
                <a:cs typeface="Arial"/>
              </a:defRPr>
            </a:lvl7pPr>
            <a:lvl8pPr>
              <a:defRPr sz="2400" b="1">
                <a:solidFill>
                  <a:srgbClr val="10243A"/>
                </a:solidFill>
                <a:latin typeface="Arial"/>
                <a:ea typeface="Arial"/>
                <a:cs typeface="Arial"/>
              </a:defRPr>
            </a:lvl8pPr>
            <a:lvl9pPr>
              <a:defRPr sz="2400" b="1">
                <a:solidFill>
                  <a:srgbClr val="10243A"/>
                </a:solidFill>
                <a:latin typeface="Arial"/>
                <a:ea typeface="Arial"/>
                <a:cs typeface="Arial"/>
              </a:defRPr>
            </a:lvl9pPr>
          </a:lstStyle>
          <a:p xmlns:a="http://schemas.openxmlformats.org/drawingml/2006/main">
            <a:pPr>
              <a:defRPr sz="2400" b="1">
                <a:solidFill>
                  <a:srgbClr val="10243A"/>
                </a:solidFill>
                <a:latin typeface="Arial"/>
                <a:ea typeface="Arial"/>
                <a:cs typeface="Arial"/>
              </a:defRPr>
            </a:pPr>
            <a:r>
              <a:rPr sz="2400" b="1">
                <a:solidFill>
                  <a:srgbClr val="10243A"/>
                </a:solidFill>
                <a:latin typeface="Arial"/>
                <a:ea typeface="Arial"/>
                <a:cs typeface="Arial"/>
              </a:rPr>
              <a:t>Policy</a:t>
            </a:r>
          </a:p>
        </p:txBody>
      </p:sp>
      <p:sp>
        <p:nvSpPr>
          <p:cNvPr id="5" name="">
            <a:extLst xmlns:a="http://schemas.openxmlformats.org/drawingml/2006/main">
              <a:ext uri="{FF2B5EF4-FFF2-40B4-BE49-F238E27FC236}">
                <a16:creationId xmlns:a16="http://schemas.microsoft.com/office/drawing/2014/main" id="{D776AFC1-232C-49E4-8B82-7862E8228E97}"/>
              </a:ext>
            </a:extLst>
          </p:cNvPr>
          <p:cNvSpPr>
            <a:spLocks xmlns:a="http://schemas.openxmlformats.org/drawingml/2006/main" noGrp="1"/>
          </p:cNvSpPr>
          <p:nvPr/>
        </p:nvSpPr>
        <p:spPr>
          <a:xfrm xmlns:a="http://schemas.openxmlformats.org/drawingml/2006/main">
            <a:off x="609600" y="3429000"/>
            <a:ext cx="4095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80% CPU / memory limit</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95% complete coverage</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1.2× CPU / memory stress</a:t>
            </a:r>
          </a:p>
        </p:txBody>
      </p:sp>
      <p:sp>
        <p:nvSpPr>
          <p:cNvPr id="6" name="">
            <a:extLst xmlns:a="http://schemas.openxmlformats.org/drawingml/2006/main">
              <a:ext uri="{FF2B5EF4-FFF2-40B4-BE49-F238E27FC236}">
                <a16:creationId xmlns:a16="http://schemas.microsoft.com/office/drawing/2014/main" id="{86DBDFE3-42BC-4F16-BDA7-F76B3D2E1E0F}"/>
              </a:ext>
            </a:extLst>
          </p:cNvPr>
          <p:cNvSpPr>
            <a:spLocks xmlns:a="http://schemas.openxmlformats.org/drawingml/2006/main" noGrp="1"/>
          </p:cNvSpPr>
          <p:nvPr/>
        </p:nvSpPr>
        <p:spPr>
          <a:xfrm xmlns:a="http://schemas.openxmlformats.org/drawingml/2006/main">
            <a:off x="5429250" y="27146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0243A"/>
                </a:solidFill>
                <a:latin typeface="Arial"/>
                <a:ea typeface="Arial"/>
                <a:cs typeface="Arial"/>
              </a:defRPr>
            </a:defPPr>
            <a:lvl1pPr>
              <a:defRPr sz="2400" b="1">
                <a:solidFill>
                  <a:srgbClr val="10243A"/>
                </a:solidFill>
                <a:latin typeface="Arial"/>
                <a:ea typeface="Arial"/>
                <a:cs typeface="Arial"/>
              </a:defRPr>
            </a:lvl1pPr>
            <a:lvl2pPr>
              <a:defRPr sz="2400" b="1">
                <a:solidFill>
                  <a:srgbClr val="10243A"/>
                </a:solidFill>
                <a:latin typeface="Arial"/>
                <a:ea typeface="Arial"/>
                <a:cs typeface="Arial"/>
              </a:defRPr>
            </a:lvl2pPr>
            <a:lvl3pPr>
              <a:defRPr sz="2400" b="1">
                <a:solidFill>
                  <a:srgbClr val="10243A"/>
                </a:solidFill>
                <a:latin typeface="Arial"/>
                <a:ea typeface="Arial"/>
                <a:cs typeface="Arial"/>
              </a:defRPr>
            </a:lvl3pPr>
            <a:lvl4pPr>
              <a:defRPr sz="2400" b="1">
                <a:solidFill>
                  <a:srgbClr val="10243A"/>
                </a:solidFill>
                <a:latin typeface="Arial"/>
                <a:ea typeface="Arial"/>
                <a:cs typeface="Arial"/>
              </a:defRPr>
            </a:lvl4pPr>
            <a:lvl5pPr>
              <a:defRPr sz="2400" b="1">
                <a:solidFill>
                  <a:srgbClr val="10243A"/>
                </a:solidFill>
                <a:latin typeface="Arial"/>
                <a:ea typeface="Arial"/>
                <a:cs typeface="Arial"/>
              </a:defRPr>
            </a:lvl5pPr>
            <a:lvl6pPr>
              <a:defRPr sz="2400" b="1">
                <a:solidFill>
                  <a:srgbClr val="10243A"/>
                </a:solidFill>
                <a:latin typeface="Arial"/>
                <a:ea typeface="Arial"/>
                <a:cs typeface="Arial"/>
              </a:defRPr>
            </a:lvl6pPr>
            <a:lvl7pPr>
              <a:defRPr sz="2400" b="1">
                <a:solidFill>
                  <a:srgbClr val="10243A"/>
                </a:solidFill>
                <a:latin typeface="Arial"/>
                <a:ea typeface="Arial"/>
                <a:cs typeface="Arial"/>
              </a:defRPr>
            </a:lvl7pPr>
            <a:lvl8pPr>
              <a:defRPr sz="2400" b="1">
                <a:solidFill>
                  <a:srgbClr val="10243A"/>
                </a:solidFill>
                <a:latin typeface="Arial"/>
                <a:ea typeface="Arial"/>
                <a:cs typeface="Arial"/>
              </a:defRPr>
            </a:lvl8pPr>
            <a:lvl9pPr>
              <a:defRPr sz="2400" b="1">
                <a:solidFill>
                  <a:srgbClr val="10243A"/>
                </a:solidFill>
                <a:latin typeface="Arial"/>
                <a:ea typeface="Arial"/>
                <a:cs typeface="Arial"/>
              </a:defRPr>
            </a:lvl9pPr>
          </a:lstStyle>
          <a:p xmlns:a="http://schemas.openxmlformats.org/drawingml/2006/main">
            <a:pPr>
              <a:defRPr sz="2400" b="1">
                <a:solidFill>
                  <a:srgbClr val="10243A"/>
                </a:solidFill>
                <a:latin typeface="Arial"/>
                <a:ea typeface="Arial"/>
                <a:cs typeface="Arial"/>
              </a:defRPr>
            </a:pPr>
            <a:r>
              <a:rPr sz="2400" b="1">
                <a:solidFill>
                  <a:srgbClr val="10243A"/>
                </a:solidFill>
                <a:latin typeface="Arial"/>
                <a:ea typeface="Arial"/>
                <a:cs typeface="Arial"/>
              </a:rPr>
              <a:t>Illustrative candidate</a:t>
            </a:r>
          </a:p>
        </p:txBody>
      </p:sp>
      <p:sp>
        <p:nvSpPr>
          <p:cNvPr id="7" name="">
            <a:extLst xmlns:a="http://schemas.openxmlformats.org/drawingml/2006/main">
              <a:ext uri="{FF2B5EF4-FFF2-40B4-BE49-F238E27FC236}">
                <a16:creationId xmlns:a16="http://schemas.microsoft.com/office/drawing/2014/main" id="{F662332C-A123-4C3A-A9B3-5B650DA808DD}"/>
              </a:ext>
            </a:extLst>
          </p:cNvPr>
          <p:cNvSpPr>
            <a:spLocks xmlns:a="http://schemas.openxmlformats.org/drawingml/2006/main" noGrp="1"/>
          </p:cNvSpPr>
          <p:nvPr/>
        </p:nvSpPr>
        <p:spPr>
          <a:xfrm xmlns:a="http://schemas.openxmlformats.org/drawingml/2006/main">
            <a:off x="5429250" y="3429000"/>
            <a:ext cx="5905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2.8 used cores ÷ 4 target cores = 70%</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Stress: 70% × 1.2 = 84%</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Result: target fails the 80% stress limit</a:t>
            </a:r>
          </a:p>
        </p:txBody>
      </p:sp>
    </p:spTree>
    <p:extLst>
      <p:ext uri="{BB962C8B-B14F-4D97-AF65-F5344CB8AC3E}">
        <p14:creationId xmlns:p14="http://schemas.microsoft.com/office/powerpoint/2010/main" val="52595349"/>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782F3CA-0B64-4725-9ED9-005F51A37462}"/>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Cost comparisons preserve billing limits</a:t>
            </a:r>
          </a:p>
        </p:txBody>
      </p:sp>
      <p:sp>
        <p:nvSpPr>
          <p:cNvPr id="2" name="">
            <a:extLst xmlns:a="http://schemas.openxmlformats.org/drawingml/2006/main">
              <a:ext uri="{FF2B5EF4-FFF2-40B4-BE49-F238E27FC236}">
                <a16:creationId xmlns:a16="http://schemas.microsoft.com/office/drawing/2014/main" id="{6FEABA24-72F5-4C9F-BF3A-DC2782586AC3}"/>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AE952A5-834E-40AE-980B-61CC0462E51E}"/>
              </a:ext>
            </a:extLst>
          </p:cNvPr>
          <p:cNvSpPr>
            <a:spLocks xmlns:a="http://schemas.openxmlformats.org/drawingml/2006/main" noGrp="1"/>
          </p:cNvSpPr>
          <p:nvPr/>
        </p:nvSpPr>
        <p:spPr>
          <a:xfrm xmlns:a="http://schemas.openxmlformats.org/drawingml/2006/main">
            <a:off x="609600" y="17145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07F8B"/>
                </a:solidFill>
                <a:latin typeface="Arial"/>
                <a:ea typeface="Arial"/>
                <a:cs typeface="Arial"/>
              </a:defRPr>
            </a:defPPr>
            <a:lvl1pPr>
              <a:defRPr sz="5700" b="1">
                <a:solidFill>
                  <a:srgbClr val="007F8B"/>
                </a:solidFill>
                <a:latin typeface="Arial"/>
                <a:ea typeface="Arial"/>
                <a:cs typeface="Arial"/>
              </a:defRPr>
            </a:lvl1pPr>
            <a:lvl2pPr>
              <a:defRPr sz="5700" b="1">
                <a:solidFill>
                  <a:srgbClr val="007F8B"/>
                </a:solidFill>
                <a:latin typeface="Arial"/>
                <a:ea typeface="Arial"/>
                <a:cs typeface="Arial"/>
              </a:defRPr>
            </a:lvl2pPr>
            <a:lvl3pPr>
              <a:defRPr sz="5700" b="1">
                <a:solidFill>
                  <a:srgbClr val="007F8B"/>
                </a:solidFill>
                <a:latin typeface="Arial"/>
                <a:ea typeface="Arial"/>
                <a:cs typeface="Arial"/>
              </a:defRPr>
            </a:lvl3pPr>
            <a:lvl4pPr>
              <a:defRPr sz="5700" b="1">
                <a:solidFill>
                  <a:srgbClr val="007F8B"/>
                </a:solidFill>
                <a:latin typeface="Arial"/>
                <a:ea typeface="Arial"/>
                <a:cs typeface="Arial"/>
              </a:defRPr>
            </a:lvl4pPr>
            <a:lvl5pPr>
              <a:defRPr sz="5700" b="1">
                <a:solidFill>
                  <a:srgbClr val="007F8B"/>
                </a:solidFill>
                <a:latin typeface="Arial"/>
                <a:ea typeface="Arial"/>
                <a:cs typeface="Arial"/>
              </a:defRPr>
            </a:lvl5pPr>
            <a:lvl6pPr>
              <a:defRPr sz="5700" b="1">
                <a:solidFill>
                  <a:srgbClr val="007F8B"/>
                </a:solidFill>
                <a:latin typeface="Arial"/>
                <a:ea typeface="Arial"/>
                <a:cs typeface="Arial"/>
              </a:defRPr>
            </a:lvl6pPr>
            <a:lvl7pPr>
              <a:defRPr sz="5700" b="1">
                <a:solidFill>
                  <a:srgbClr val="007F8B"/>
                </a:solidFill>
                <a:latin typeface="Arial"/>
                <a:ea typeface="Arial"/>
                <a:cs typeface="Arial"/>
              </a:defRPr>
            </a:lvl7pPr>
            <a:lvl8pPr>
              <a:defRPr sz="5700" b="1">
                <a:solidFill>
                  <a:srgbClr val="007F8B"/>
                </a:solidFill>
                <a:latin typeface="Arial"/>
                <a:ea typeface="Arial"/>
                <a:cs typeface="Arial"/>
              </a:defRPr>
            </a:lvl8pPr>
            <a:lvl9pPr>
              <a:defRPr sz="5700" b="1">
                <a:solidFill>
                  <a:srgbClr val="007F8B"/>
                </a:solidFill>
                <a:latin typeface="Arial"/>
                <a:ea typeface="Arial"/>
                <a:cs typeface="Arial"/>
              </a:defRPr>
            </a:lvl9pPr>
          </a:lstStyle>
          <a:p xmlns:a="http://schemas.openxmlformats.org/drawingml/2006/main">
            <a:pPr>
              <a:defRPr sz="5700" b="1">
                <a:solidFill>
                  <a:srgbClr val="007F8B"/>
                </a:solidFill>
                <a:latin typeface="Arial"/>
                <a:ea typeface="Arial"/>
                <a:cs typeface="Arial"/>
              </a:defRPr>
            </a:pPr>
            <a:r>
              <a:rPr sz="5700" b="1">
                <a:solidFill>
                  <a:srgbClr val="007F8B"/>
                </a:solidFill>
                <a:latin typeface="Arial"/>
                <a:ea typeface="Arial"/>
                <a:cs typeface="Arial"/>
              </a:rPr>
              <a:t>INR 10,28,550</a:t>
            </a:r>
          </a:p>
        </p:txBody>
      </p:sp>
      <p:sp>
        <p:nvSpPr>
          <p:cNvPr id="4" name="">
            <a:extLst xmlns:a="http://schemas.openxmlformats.org/drawingml/2006/main">
              <a:ext uri="{FF2B5EF4-FFF2-40B4-BE49-F238E27FC236}">
                <a16:creationId xmlns:a16="http://schemas.microsoft.com/office/drawing/2014/main" id="{04379A53-376D-47DC-96DE-ABA875033862}"/>
              </a:ext>
            </a:extLst>
          </p:cNvPr>
          <p:cNvSpPr>
            <a:spLocks xmlns:a="http://schemas.openxmlformats.org/drawingml/2006/main" noGrp="1"/>
          </p:cNvSpPr>
          <p:nvPr/>
        </p:nvSpPr>
        <p:spPr>
          <a:xfrm xmlns:a="http://schemas.openxmlformats.org/drawingml/2006/main">
            <a:off x="609600" y="2857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Known-charge monthly equivalent in the supplied snapshot</a:t>
            </a:r>
          </a:p>
        </p:txBody>
      </p:sp>
      <p:sp>
        <p:nvSpPr>
          <p:cNvPr id="5" name="">
            <a:extLst xmlns:a="http://schemas.openxmlformats.org/drawingml/2006/main">
              <a:ext uri="{FF2B5EF4-FFF2-40B4-BE49-F238E27FC236}">
                <a16:creationId xmlns:a16="http://schemas.microsoft.com/office/drawing/2014/main" id="{E9C99B37-9705-4C83-BD70-ED0E464D58FC}"/>
              </a:ext>
            </a:extLst>
          </p:cNvPr>
          <p:cNvSpPr>
            <a:spLocks xmlns:a="http://schemas.openxmlformats.org/drawingml/2006/main" noGrp="1"/>
          </p:cNvSpPr>
          <p:nvPr/>
        </p:nvSpPr>
        <p:spPr>
          <a:xfrm xmlns:a="http://schemas.openxmlformats.org/drawingml/2006/main">
            <a:off x="609600" y="39052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Comparison basis</a:t>
            </a:r>
          </a:p>
        </p:txBody>
      </p:sp>
      <p:sp>
        <p:nvSpPr>
          <p:cNvPr id="6" name="">
            <a:extLst xmlns:a="http://schemas.openxmlformats.org/drawingml/2006/main">
              <a:ext uri="{FF2B5EF4-FFF2-40B4-BE49-F238E27FC236}">
                <a16:creationId xmlns:a16="http://schemas.microsoft.com/office/drawing/2014/main" id="{D279D8F4-4173-4979-A788-7043EABFF7ED}"/>
              </a:ext>
            </a:extLst>
          </p:cNvPr>
          <p:cNvSpPr>
            <a:spLocks xmlns:a="http://schemas.openxmlformats.org/drawingml/2006/main" noGrp="1"/>
          </p:cNvSpPr>
          <p:nvPr/>
        </p:nvSpPr>
        <p:spPr>
          <a:xfrm xmlns:a="http://schemas.openxmlformats.org/drawingml/2006/main">
            <a:off x="4000500" y="390525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Quarterly compute price ÷ 3. Separate storage remains billable.</a:t>
            </a:r>
          </a:p>
        </p:txBody>
      </p:sp>
      <p:sp>
        <p:nvSpPr>
          <p:cNvPr id="7" name="">
            <a:extLst xmlns:a="http://schemas.openxmlformats.org/drawingml/2006/main">
              <a:ext uri="{FF2B5EF4-FFF2-40B4-BE49-F238E27FC236}">
                <a16:creationId xmlns:a16="http://schemas.microsoft.com/office/drawing/2014/main" id="{4EE0816C-3B5F-413F-B77A-13AB19D384BD}"/>
              </a:ext>
            </a:extLst>
          </p:cNvPr>
          <p:cNvSpPr>
            <a:spLocks xmlns:a="http://schemas.openxmlformats.org/drawingml/2006/main" noGrp="1"/>
          </p:cNvSpPr>
          <p:nvPr/>
        </p:nvSpPr>
        <p:spPr>
          <a:xfrm xmlns:a="http://schemas.openxmlformats.org/drawingml/2006/main">
            <a:off x="609600" y="50482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Material limits</a:t>
            </a:r>
          </a:p>
        </p:txBody>
      </p:sp>
      <p:sp>
        <p:nvSpPr>
          <p:cNvPr id="8" name="">
            <a:extLst xmlns:a="http://schemas.openxmlformats.org/drawingml/2006/main">
              <a:ext uri="{FF2B5EF4-FFF2-40B4-BE49-F238E27FC236}">
                <a16:creationId xmlns:a16="http://schemas.microsoft.com/office/drawing/2014/main" id="{8C92DD54-6172-4F14-AE13-04C55568432C}"/>
              </a:ext>
            </a:extLst>
          </p:cNvPr>
          <p:cNvSpPr>
            <a:spLocks xmlns:a="http://schemas.openxmlformats.org/drawingml/2006/main" noGrp="1"/>
          </p:cNvSpPr>
          <p:nvPr/>
        </p:nvSpPr>
        <p:spPr>
          <a:xfrm xmlns:a="http://schemas.openxmlformats.org/drawingml/2006/main">
            <a:off x="4000500" y="504825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30 resources have unknown tariffs. Stopping committed VMs saves INR 0 cash.</a:t>
            </a:r>
          </a:p>
        </p:txBody>
      </p:sp>
    </p:spTree>
    <p:extLst>
      <p:ext uri="{BB962C8B-B14F-4D97-AF65-F5344CB8AC3E}">
        <p14:creationId xmlns:p14="http://schemas.microsoft.com/office/powerpoint/2010/main" val="242497664"/>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068C00-6398-4563-908A-BB3CCD0F3D5D}"/>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Architecture and responsibility boundaries</a:t>
            </a:r>
          </a:p>
        </p:txBody>
      </p:sp>
      <p:sp>
        <p:nvSpPr>
          <p:cNvPr id="2" name="">
            <a:extLst xmlns:a="http://schemas.openxmlformats.org/drawingml/2006/main">
              <a:ext uri="{FF2B5EF4-FFF2-40B4-BE49-F238E27FC236}">
                <a16:creationId xmlns:a16="http://schemas.microsoft.com/office/drawing/2014/main" id="{42559479-49C1-425C-AF4A-22C599AFF282}"/>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40AA6CF-2BF6-4267-99C4-BD370F7542C8}"/>
              </a:ext>
            </a:extLst>
          </p:cNvPr>
          <p:cNvSpPr>
            <a:spLocks xmlns:a="http://schemas.openxmlformats.org/drawingml/2006/main" noGrp="1"/>
          </p:cNvSpPr>
          <p:nvPr/>
        </p:nvSpPr>
        <p:spPr>
          <a:xfrm xmlns:a="http://schemas.openxmlformats.org/drawingml/2006/main">
            <a:off x="609600" y="14763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React + FastAPI + SQLite</a:t>
            </a:r>
          </a:p>
        </p:txBody>
      </p:sp>
      <p:sp>
        <p:nvSpPr>
          <p:cNvPr id="4" name="">
            <a:extLst xmlns:a="http://schemas.openxmlformats.org/drawingml/2006/main">
              <a:ext uri="{FF2B5EF4-FFF2-40B4-BE49-F238E27FC236}">
                <a16:creationId xmlns:a16="http://schemas.microsoft.com/office/drawing/2014/main" id="{9051EA0E-AC00-481C-93E8-E505B8D929CA}"/>
              </a:ext>
            </a:extLst>
          </p:cNvPr>
          <p:cNvSpPr>
            <a:spLocks xmlns:a="http://schemas.openxmlformats.org/drawingml/2006/main" noGrp="1"/>
          </p:cNvSpPr>
          <p:nvPr/>
        </p:nvSpPr>
        <p:spPr>
          <a:xfrm xmlns:a="http://schemas.openxmlformats.org/drawingml/2006/main">
            <a:off x="4000500" y="1476375"/>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One web client, one API and persistent evidence, decisions and audit.</a:t>
            </a:r>
          </a:p>
        </p:txBody>
      </p:sp>
      <p:sp>
        <p:nvSpPr>
          <p:cNvPr id="5" name="">
            <a:extLst xmlns:a="http://schemas.openxmlformats.org/drawingml/2006/main">
              <a:ext uri="{FF2B5EF4-FFF2-40B4-BE49-F238E27FC236}">
                <a16:creationId xmlns:a16="http://schemas.microsoft.com/office/drawing/2014/main" id="{BB23ACF3-2B51-4CFB-A780-3DD251E463F9}"/>
              </a:ext>
            </a:extLst>
          </p:cNvPr>
          <p:cNvSpPr>
            <a:spLocks xmlns:a="http://schemas.openxmlformats.org/drawingml/2006/main" noGrp="1"/>
          </p:cNvSpPr>
          <p:nvPr/>
        </p:nvSpPr>
        <p:spPr>
          <a:xfrm xmlns:a="http://schemas.openxmlformats.org/drawingml/2006/main">
            <a:off x="609600" y="26193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Deterministic engine</a:t>
            </a:r>
          </a:p>
        </p:txBody>
      </p:sp>
      <p:sp>
        <p:nvSpPr>
          <p:cNvPr id="6" name="">
            <a:extLst xmlns:a="http://schemas.openxmlformats.org/drawingml/2006/main">
              <a:ext uri="{FF2B5EF4-FFF2-40B4-BE49-F238E27FC236}">
                <a16:creationId xmlns:a16="http://schemas.microsoft.com/office/drawing/2014/main" id="{614F1343-02E6-4F08-8DF0-1370ED0D97C1}"/>
              </a:ext>
            </a:extLst>
          </p:cNvPr>
          <p:cNvSpPr>
            <a:spLocks xmlns:a="http://schemas.openxmlformats.org/drawingml/2006/main" noGrp="1"/>
          </p:cNvSpPr>
          <p:nvPr/>
        </p:nvSpPr>
        <p:spPr>
          <a:xfrm xmlns:a="http://schemas.openxmlformats.org/drawingml/2006/main">
            <a:off x="4000500" y="2619375"/>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CSV validation, peak analysis, candidate checks and cost arithmetic.</a:t>
            </a:r>
          </a:p>
        </p:txBody>
      </p:sp>
      <p:sp>
        <p:nvSpPr>
          <p:cNvPr id="7" name="">
            <a:extLst xmlns:a="http://schemas.openxmlformats.org/drawingml/2006/main">
              <a:ext uri="{FF2B5EF4-FFF2-40B4-BE49-F238E27FC236}">
                <a16:creationId xmlns:a16="http://schemas.microsoft.com/office/drawing/2014/main" id="{B6F25AB5-C009-4B30-8F6F-4FFDF99C61C3}"/>
              </a:ext>
            </a:extLst>
          </p:cNvPr>
          <p:cNvSpPr>
            <a:spLocks xmlns:a="http://schemas.openxmlformats.org/drawingml/2006/main" noGrp="1"/>
          </p:cNvSpPr>
          <p:nvPr/>
        </p:nvSpPr>
        <p:spPr>
          <a:xfrm xmlns:a="http://schemas.openxmlformats.org/drawingml/2006/main">
            <a:off x="609600" y="37623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LLM text interface</a:t>
            </a:r>
          </a:p>
        </p:txBody>
      </p:sp>
      <p:sp>
        <p:nvSpPr>
          <p:cNvPr id="8" name="">
            <a:extLst xmlns:a="http://schemas.openxmlformats.org/drawingml/2006/main">
              <a:ext uri="{FF2B5EF4-FFF2-40B4-BE49-F238E27FC236}">
                <a16:creationId xmlns:a16="http://schemas.microsoft.com/office/drawing/2014/main" id="{C50BE34A-3D6A-45FF-8133-C9CC2FC24515}"/>
              </a:ext>
            </a:extLst>
          </p:cNvPr>
          <p:cNvSpPr>
            <a:spLocks xmlns:a="http://schemas.openxmlformats.org/drawingml/2006/main" noGrp="1"/>
          </p:cNvSpPr>
          <p:nvPr/>
        </p:nvSpPr>
        <p:spPr>
          <a:xfrm xmlns:a="http://schemas.openxmlformats.org/drawingml/2006/main">
            <a:off x="4000500" y="3762375"/>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Explains findings and fills scenario inputs. Server validation controls calculation.</a:t>
            </a:r>
          </a:p>
        </p:txBody>
      </p:sp>
      <p:sp>
        <p:nvSpPr>
          <p:cNvPr id="9" name="">
            <a:extLst xmlns:a="http://schemas.openxmlformats.org/drawingml/2006/main">
              <a:ext uri="{FF2B5EF4-FFF2-40B4-BE49-F238E27FC236}">
                <a16:creationId xmlns:a16="http://schemas.microsoft.com/office/drawing/2014/main" id="{294E77E4-3466-46DB-82D0-52467CFFA1D9}"/>
              </a:ext>
            </a:extLst>
          </p:cNvPr>
          <p:cNvSpPr>
            <a:spLocks xmlns:a="http://schemas.openxmlformats.org/drawingml/2006/main" noGrp="1"/>
          </p:cNvSpPr>
          <p:nvPr/>
        </p:nvSpPr>
        <p:spPr>
          <a:xfrm xmlns:a="http://schemas.openxmlformats.org/drawingml/2006/main">
            <a:off x="609600" y="49053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Execution integrations</a:t>
            </a:r>
          </a:p>
        </p:txBody>
      </p:sp>
      <p:sp>
        <p:nvSpPr>
          <p:cNvPr id="10" name="">
            <a:extLst xmlns:a="http://schemas.openxmlformats.org/drawingml/2006/main">
              <a:ext uri="{FF2B5EF4-FFF2-40B4-BE49-F238E27FC236}">
                <a16:creationId xmlns:a16="http://schemas.microsoft.com/office/drawing/2014/main" id="{7FCC8FFA-7C31-4984-9FBC-3E695C7B51F5}"/>
              </a:ext>
            </a:extLst>
          </p:cNvPr>
          <p:cNvSpPr>
            <a:spLocks xmlns:a="http://schemas.openxmlformats.org/drawingml/2006/main" noGrp="1"/>
          </p:cNvSpPr>
          <p:nvPr/>
        </p:nvSpPr>
        <p:spPr>
          <a:xfrm xmlns:a="http://schemas.openxmlformats.org/drawingml/2006/main">
            <a:off x="4000500" y="4905375"/>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LocalStack through MCP and GitHub Terraform PRs after exact approval.</a:t>
            </a:r>
          </a:p>
        </p:txBody>
      </p:sp>
    </p:spTree>
    <p:extLst>
      <p:ext uri="{BB962C8B-B14F-4D97-AF65-F5344CB8AC3E}">
        <p14:creationId xmlns:p14="http://schemas.microsoft.com/office/powerpoint/2010/main" val="149730827"/>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12B4D7-7C0F-458A-AC7A-658EC2F819BF}"/>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Approved execution in the demo environment</a:t>
            </a:r>
          </a:p>
        </p:txBody>
      </p:sp>
      <p:sp>
        <p:nvSpPr>
          <p:cNvPr id="2" name="">
            <a:extLst xmlns:a="http://schemas.openxmlformats.org/drawingml/2006/main">
              <a:ext uri="{FF2B5EF4-FFF2-40B4-BE49-F238E27FC236}">
                <a16:creationId xmlns:a16="http://schemas.microsoft.com/office/drawing/2014/main" id="{6B1BFAED-5A2B-4AD3-9D4B-C1C95BDBB956}"/>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AD3F04A-8B8A-4D5D-B9B8-B8AB3B9C8FB7}"/>
              </a:ext>
            </a:extLst>
          </p:cNvPr>
          <p:cNvSpPr>
            <a:spLocks xmlns:a="http://schemas.openxmlformats.org/drawingml/2006/main" noGrp="1"/>
          </p:cNvSpPr>
          <p:nvPr/>
        </p:nvSpPr>
        <p:spPr>
          <a:xfrm xmlns:a="http://schemas.openxmlformats.org/drawingml/2006/main">
            <a:off x="609600" y="18573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7F8B"/>
                </a:solidFill>
                <a:latin typeface="Arial"/>
                <a:ea typeface="Arial"/>
                <a:cs typeface="Arial"/>
              </a:defRPr>
            </a:defPPr>
            <a:lvl1pPr>
              <a:defRPr sz="2550" b="1">
                <a:solidFill>
                  <a:srgbClr val="007F8B"/>
                </a:solidFill>
                <a:latin typeface="Arial"/>
                <a:ea typeface="Arial"/>
                <a:cs typeface="Arial"/>
              </a:defRPr>
            </a:lvl1pPr>
            <a:lvl2pPr>
              <a:defRPr sz="2550" b="1">
                <a:solidFill>
                  <a:srgbClr val="007F8B"/>
                </a:solidFill>
                <a:latin typeface="Arial"/>
                <a:ea typeface="Arial"/>
                <a:cs typeface="Arial"/>
              </a:defRPr>
            </a:lvl2pPr>
            <a:lvl3pPr>
              <a:defRPr sz="2550" b="1">
                <a:solidFill>
                  <a:srgbClr val="007F8B"/>
                </a:solidFill>
                <a:latin typeface="Arial"/>
                <a:ea typeface="Arial"/>
                <a:cs typeface="Arial"/>
              </a:defRPr>
            </a:lvl3pPr>
            <a:lvl4pPr>
              <a:defRPr sz="2550" b="1">
                <a:solidFill>
                  <a:srgbClr val="007F8B"/>
                </a:solidFill>
                <a:latin typeface="Arial"/>
                <a:ea typeface="Arial"/>
                <a:cs typeface="Arial"/>
              </a:defRPr>
            </a:lvl4pPr>
            <a:lvl5pPr>
              <a:defRPr sz="2550" b="1">
                <a:solidFill>
                  <a:srgbClr val="007F8B"/>
                </a:solidFill>
                <a:latin typeface="Arial"/>
                <a:ea typeface="Arial"/>
                <a:cs typeface="Arial"/>
              </a:defRPr>
            </a:lvl5pPr>
            <a:lvl6pPr>
              <a:defRPr sz="2550" b="1">
                <a:solidFill>
                  <a:srgbClr val="007F8B"/>
                </a:solidFill>
                <a:latin typeface="Arial"/>
                <a:ea typeface="Arial"/>
                <a:cs typeface="Arial"/>
              </a:defRPr>
            </a:lvl6pPr>
            <a:lvl7pPr>
              <a:defRPr sz="2550" b="1">
                <a:solidFill>
                  <a:srgbClr val="007F8B"/>
                </a:solidFill>
                <a:latin typeface="Arial"/>
                <a:ea typeface="Arial"/>
                <a:cs typeface="Arial"/>
              </a:defRPr>
            </a:lvl7pPr>
            <a:lvl8pPr>
              <a:defRPr sz="2550" b="1">
                <a:solidFill>
                  <a:srgbClr val="007F8B"/>
                </a:solidFill>
                <a:latin typeface="Arial"/>
                <a:ea typeface="Arial"/>
                <a:cs typeface="Arial"/>
              </a:defRPr>
            </a:lvl8pPr>
            <a:lvl9pPr>
              <a:defRPr sz="2550" b="1">
                <a:solidFill>
                  <a:srgbClr val="007F8B"/>
                </a:solidFill>
                <a:latin typeface="Arial"/>
                <a:ea typeface="Arial"/>
                <a:cs typeface="Arial"/>
              </a:defRPr>
            </a:lvl9pPr>
          </a:lstStyle>
          <a:p xmlns:a="http://schemas.openxmlformats.org/drawingml/2006/main">
            <a:pPr>
              <a:defRPr sz="2550" b="1">
                <a:solidFill>
                  <a:srgbClr val="007F8B"/>
                </a:solidFill>
                <a:latin typeface="Arial"/>
                <a:ea typeface="Arial"/>
                <a:cs typeface="Arial"/>
              </a:defRPr>
            </a:pPr>
            <a:r>
              <a:rPr sz="2550" b="1">
                <a:solidFill>
                  <a:srgbClr val="007F8B"/>
                </a:solidFill>
                <a:latin typeface="Arial"/>
                <a:ea typeface="Arial"/>
                <a:cs typeface="Arial"/>
              </a:rPr>
              <a:t>Explicit approval</a:t>
            </a:r>
          </a:p>
        </p:txBody>
      </p:sp>
      <p:sp>
        <p:nvSpPr>
          <p:cNvPr id="4" name="">
            <a:extLst xmlns:a="http://schemas.openxmlformats.org/drawingml/2006/main">
              <a:ext uri="{FF2B5EF4-FFF2-40B4-BE49-F238E27FC236}">
                <a16:creationId xmlns:a16="http://schemas.microsoft.com/office/drawing/2014/main" id="{03D37FF1-AB7D-4F9E-8F99-B14A7BEEB4C0}"/>
              </a:ext>
            </a:extLst>
          </p:cNvPr>
          <p:cNvSpPr>
            <a:spLocks xmlns:a="http://schemas.openxmlformats.org/drawingml/2006/main" noGrp="1"/>
          </p:cNvSpPr>
          <p:nvPr/>
        </p:nvSpPr>
        <p:spPr>
          <a:xfrm xmlns:a="http://schemas.openxmlformats.org/drawingml/2006/main">
            <a:off x="609600" y="2667000"/>
            <a:ext cx="47625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1. Preview the exact change.</a:t>
            </a:r>
          </a:p>
          <a:p xmlns:a="http://schemas.openxmlformats.org/drawingml/2006/main">
            <a:r>
              <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2. Approve and recheck evidence.</a:t>
            </a:r>
          </a:p>
          <a:p xmlns:a="http://schemas.openxmlformats.org/drawingml/2006/main">
            <a:r>
              <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3. Verify the result and audit.</a:t>
            </a:r>
          </a:p>
        </p:txBody>
      </p:sp>
      <p:pic>
        <p:nvPicPr>
          <p:cNvPr id="5" name="">
            <a:extLst xmlns:a="http://schemas.openxmlformats.org/drawingml/2006/main">
              <a:ext uri="{FF2B5EF4-FFF2-40B4-BE49-F238E27FC236}">
                <a16:creationId xmlns:a16="http://schemas.microsoft.com/office/drawing/2014/main" id="{2170824C-9925-42F0-9385-FD979C0CBB02}"/>
              </a:ext>
            </a:extLst>
          </p:cNvPr>
          <p:cNvPicPr>
            <a:picLocks xmlns:a="http://schemas.openxmlformats.org/drawingml/2006/main" noChangeAspect="1"/>
          </p:cNvPicPr>
          <p:nvPr/>
        </p:nvPicPr>
        <p:blipFill>
          <a:blip xmlns:r="http://schemas.openxmlformats.org/officeDocument/2006/relationships" xmlns:a="http://schemas.openxmlformats.org/drawingml/2006/main" r:embed="R0cada516db464a5f"/>
          <a:stretch xmlns:a="http://schemas.openxmlformats.org/drawingml/2006/main"/>
        </p:blipFill>
        <p:spPr>
          <a:xfrm xmlns:a="http://schemas.openxmlformats.org/drawingml/2006/main">
            <a:off x="6763451" y="1428750"/>
            <a:ext cx="4094347"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F43AB79-9BA1-4326-B444-69160AEA0CDF}"/>
              </a:ext>
            </a:extLst>
          </p:cNvPr>
          <p:cNvSpPr>
            <a:spLocks xmlns:a="http://schemas.openxmlformats.org/drawingml/2006/main" noGrp="1"/>
          </p:cNvSpPr>
          <p:nvPr/>
        </p:nvSpPr>
        <p:spPr>
          <a:xfrm xmlns:a="http://schemas.openxmlformats.org/drawingml/2006/main">
            <a:off x="609600" y="60483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479"/>
                </a:solidFill>
                <a:latin typeface="Arial"/>
                <a:ea typeface="Arial"/>
                <a:cs typeface="Arial"/>
              </a:defRPr>
            </a:defPPr>
            <a:lvl1pPr>
              <a:defRPr sz="1725" b="0">
                <a:solidFill>
                  <a:srgbClr val="536479"/>
                </a:solidFill>
                <a:latin typeface="Arial"/>
                <a:ea typeface="Arial"/>
                <a:cs typeface="Arial"/>
              </a:defRPr>
            </a:lvl1pPr>
            <a:lvl2pPr>
              <a:defRPr sz="1725" b="0">
                <a:solidFill>
                  <a:srgbClr val="536479"/>
                </a:solidFill>
                <a:latin typeface="Arial"/>
                <a:ea typeface="Arial"/>
                <a:cs typeface="Arial"/>
              </a:defRPr>
            </a:lvl2pPr>
            <a:lvl3pPr>
              <a:defRPr sz="1725" b="0">
                <a:solidFill>
                  <a:srgbClr val="536479"/>
                </a:solidFill>
                <a:latin typeface="Arial"/>
                <a:ea typeface="Arial"/>
                <a:cs typeface="Arial"/>
              </a:defRPr>
            </a:lvl3pPr>
            <a:lvl4pPr>
              <a:defRPr sz="1725" b="0">
                <a:solidFill>
                  <a:srgbClr val="536479"/>
                </a:solidFill>
                <a:latin typeface="Arial"/>
                <a:ea typeface="Arial"/>
                <a:cs typeface="Arial"/>
              </a:defRPr>
            </a:lvl4pPr>
            <a:lvl5pPr>
              <a:defRPr sz="1725" b="0">
                <a:solidFill>
                  <a:srgbClr val="536479"/>
                </a:solidFill>
                <a:latin typeface="Arial"/>
                <a:ea typeface="Arial"/>
                <a:cs typeface="Arial"/>
              </a:defRPr>
            </a:lvl5pPr>
            <a:lvl6pPr>
              <a:defRPr sz="1725" b="0">
                <a:solidFill>
                  <a:srgbClr val="536479"/>
                </a:solidFill>
                <a:latin typeface="Arial"/>
                <a:ea typeface="Arial"/>
                <a:cs typeface="Arial"/>
              </a:defRPr>
            </a:lvl6pPr>
            <a:lvl7pPr>
              <a:defRPr sz="1725" b="0">
                <a:solidFill>
                  <a:srgbClr val="536479"/>
                </a:solidFill>
                <a:latin typeface="Arial"/>
                <a:ea typeface="Arial"/>
                <a:cs typeface="Arial"/>
              </a:defRPr>
            </a:lvl7pPr>
            <a:lvl8pPr>
              <a:defRPr sz="1725" b="0">
                <a:solidFill>
                  <a:srgbClr val="536479"/>
                </a:solidFill>
                <a:latin typeface="Arial"/>
                <a:ea typeface="Arial"/>
                <a:cs typeface="Arial"/>
              </a:defRPr>
            </a:lvl8pPr>
            <a:lvl9pPr>
              <a:defRPr sz="1725" b="0">
                <a:solidFill>
                  <a:srgbClr val="536479"/>
                </a:solidFill>
                <a:latin typeface="Arial"/>
                <a:ea typeface="Arial"/>
                <a:cs typeface="Arial"/>
              </a:defRPr>
            </a:lvl9pPr>
          </a:lstStyle>
          <a:p xmlns:a="http://schemas.openxmlformats.org/drawingml/2006/main">
            <a:pPr>
              <a:defRPr sz="1725" b="0">
                <a:solidFill>
                  <a:srgbClr val="536479"/>
                </a:solidFill>
                <a:latin typeface="Arial"/>
                <a:ea typeface="Arial"/>
                <a:cs typeface="Arial"/>
              </a:defRPr>
            </a:pPr>
            <a:r>
              <a:rPr sz="1725" b="0">
                <a:solidFill>
                  <a:srgbClr val="536479"/>
                </a:solidFill>
                <a:latin typeface="Arial"/>
                <a:ea typeface="Arial"/>
                <a:cs typeface="Arial"/>
              </a:rPr>
              <a:t>Terraform creates a reviewable PR. LocalStack tests control-plane state.</a:t>
            </a:r>
          </a:p>
        </p:txBody>
      </p:sp>
    </p:spTree>
    <p:extLst>
      <p:ext uri="{BB962C8B-B14F-4D97-AF65-F5344CB8AC3E}">
        <p14:creationId xmlns:p14="http://schemas.microsoft.com/office/powerpoint/2010/main" val="1918479848"/>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051109A-445E-4603-8166-C22BD70ED9A3}"/>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What-if analysis makes assumptions visible</a:t>
            </a:r>
          </a:p>
        </p:txBody>
      </p:sp>
      <p:sp>
        <p:nvSpPr>
          <p:cNvPr id="2" name="">
            <a:extLst xmlns:a="http://schemas.openxmlformats.org/drawingml/2006/main">
              <a:ext uri="{FF2B5EF4-FFF2-40B4-BE49-F238E27FC236}">
                <a16:creationId xmlns:a16="http://schemas.microsoft.com/office/drawing/2014/main" id="{99EFE864-FDF4-403A-AC2A-CC3785CDB145}"/>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F852353-4AA0-4B28-8F21-2BBB67F39AB5}"/>
              </a:ext>
            </a:extLst>
          </p:cNvPr>
          <p:cNvSpPr>
            <a:spLocks xmlns:a="http://schemas.openxmlformats.org/drawingml/2006/main" noGrp="1"/>
          </p:cNvSpPr>
          <p:nvPr/>
        </p:nvSpPr>
        <p:spPr>
          <a:xfrm xmlns:a="http://schemas.openxmlformats.org/drawingml/2006/main">
            <a:off x="609600" y="18573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7F8B"/>
                </a:solidFill>
                <a:latin typeface="Arial"/>
                <a:ea typeface="Arial"/>
                <a:cs typeface="Arial"/>
              </a:defRPr>
            </a:defPPr>
            <a:lvl1pPr>
              <a:defRPr sz="2550" b="1">
                <a:solidFill>
                  <a:srgbClr val="007F8B"/>
                </a:solidFill>
                <a:latin typeface="Arial"/>
                <a:ea typeface="Arial"/>
                <a:cs typeface="Arial"/>
              </a:defRPr>
            </a:lvl1pPr>
            <a:lvl2pPr>
              <a:defRPr sz="2550" b="1">
                <a:solidFill>
                  <a:srgbClr val="007F8B"/>
                </a:solidFill>
                <a:latin typeface="Arial"/>
                <a:ea typeface="Arial"/>
                <a:cs typeface="Arial"/>
              </a:defRPr>
            </a:lvl2pPr>
            <a:lvl3pPr>
              <a:defRPr sz="2550" b="1">
                <a:solidFill>
                  <a:srgbClr val="007F8B"/>
                </a:solidFill>
                <a:latin typeface="Arial"/>
                <a:ea typeface="Arial"/>
                <a:cs typeface="Arial"/>
              </a:defRPr>
            </a:lvl3pPr>
            <a:lvl4pPr>
              <a:defRPr sz="2550" b="1">
                <a:solidFill>
                  <a:srgbClr val="007F8B"/>
                </a:solidFill>
                <a:latin typeface="Arial"/>
                <a:ea typeface="Arial"/>
                <a:cs typeface="Arial"/>
              </a:defRPr>
            </a:lvl4pPr>
            <a:lvl5pPr>
              <a:defRPr sz="2550" b="1">
                <a:solidFill>
                  <a:srgbClr val="007F8B"/>
                </a:solidFill>
                <a:latin typeface="Arial"/>
                <a:ea typeface="Arial"/>
                <a:cs typeface="Arial"/>
              </a:defRPr>
            </a:lvl5pPr>
            <a:lvl6pPr>
              <a:defRPr sz="2550" b="1">
                <a:solidFill>
                  <a:srgbClr val="007F8B"/>
                </a:solidFill>
                <a:latin typeface="Arial"/>
                <a:ea typeface="Arial"/>
                <a:cs typeface="Arial"/>
              </a:defRPr>
            </a:lvl6pPr>
            <a:lvl7pPr>
              <a:defRPr sz="2550" b="1">
                <a:solidFill>
                  <a:srgbClr val="007F8B"/>
                </a:solidFill>
                <a:latin typeface="Arial"/>
                <a:ea typeface="Arial"/>
                <a:cs typeface="Arial"/>
              </a:defRPr>
            </a:lvl7pPr>
            <a:lvl8pPr>
              <a:defRPr sz="2550" b="1">
                <a:solidFill>
                  <a:srgbClr val="007F8B"/>
                </a:solidFill>
                <a:latin typeface="Arial"/>
                <a:ea typeface="Arial"/>
                <a:cs typeface="Arial"/>
              </a:defRPr>
            </a:lvl8pPr>
            <a:lvl9pPr>
              <a:defRPr sz="2550" b="1">
                <a:solidFill>
                  <a:srgbClr val="007F8B"/>
                </a:solidFill>
                <a:latin typeface="Arial"/>
                <a:ea typeface="Arial"/>
                <a:cs typeface="Arial"/>
              </a:defRPr>
            </a:lvl9pPr>
          </a:lstStyle>
          <a:p xmlns:a="http://schemas.openxmlformats.org/drawingml/2006/main">
            <a:pPr>
              <a:defRPr sz="2550" b="1">
                <a:solidFill>
                  <a:srgbClr val="007F8B"/>
                </a:solidFill>
                <a:latin typeface="Arial"/>
                <a:ea typeface="Arial"/>
                <a:cs typeface="Arial"/>
              </a:defRPr>
            </a:pPr>
            <a:r>
              <a:rPr sz="2550" b="1">
                <a:solidFill>
                  <a:srgbClr val="007F8B"/>
                </a:solidFill>
                <a:latin typeface="Arial"/>
                <a:ea typeface="Arial"/>
                <a:cs typeface="Arial"/>
              </a:rPr>
              <a:t>Visible scenario inputs</a:t>
            </a:r>
          </a:p>
        </p:txBody>
      </p:sp>
      <p:sp>
        <p:nvSpPr>
          <p:cNvPr id="4" name="">
            <a:extLst xmlns:a="http://schemas.openxmlformats.org/drawingml/2006/main">
              <a:ext uri="{FF2B5EF4-FFF2-40B4-BE49-F238E27FC236}">
                <a16:creationId xmlns:a16="http://schemas.microsoft.com/office/drawing/2014/main" id="{244E14D1-22D7-44AD-B615-B3E6289C3653}"/>
              </a:ext>
            </a:extLst>
          </p:cNvPr>
          <p:cNvSpPr>
            <a:spLocks xmlns:a="http://schemas.openxmlformats.org/drawingml/2006/main" noGrp="1"/>
          </p:cNvSpPr>
          <p:nvPr/>
        </p:nvSpPr>
        <p:spPr>
          <a:xfrm xmlns:a="http://schemas.openxmlformats.org/drawingml/2006/main">
            <a:off x="609600" y="266700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Ask a plain-language question.</a:t>
            </a:r>
          </a:p>
          <a:p xmlns:a="http://schemas.openxmlformats.org/drawingml/2006/main">
            <a:r>
              <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Review the interpreted schedule and billing mode.</a:t>
            </a:r>
          </a:p>
          <a:p xmlns:a="http://schemas.openxmlformats.org/drawingml/2006/main">
            <a:r>
              <a:t/>
            </a:r>
          </a:p>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Run the server-calculated scenario.</a:t>
            </a:r>
          </a:p>
        </p:txBody>
      </p:sp>
      <p:pic>
        <p:nvPicPr>
          <p:cNvPr id="5" name="">
            <a:extLst xmlns:a="http://schemas.openxmlformats.org/drawingml/2006/main">
              <a:ext uri="{FF2B5EF4-FFF2-40B4-BE49-F238E27FC236}">
                <a16:creationId xmlns:a16="http://schemas.microsoft.com/office/drawing/2014/main" id="{C638298A-02B5-45FA-B5C4-6E97770CA456}"/>
              </a:ext>
            </a:extLst>
          </p:cNvPr>
          <p:cNvPicPr>
            <a:picLocks xmlns:a="http://schemas.openxmlformats.org/drawingml/2006/main" noChangeAspect="1"/>
          </p:cNvPicPr>
          <p:nvPr/>
        </p:nvPicPr>
        <p:blipFill>
          <a:blip xmlns:r="http://schemas.openxmlformats.org/officeDocument/2006/relationships" xmlns:a="http://schemas.openxmlformats.org/drawingml/2006/main" r:embed="R11a2ecffce3c4cf0"/>
          <a:stretch xmlns:a="http://schemas.openxmlformats.org/drawingml/2006/main"/>
        </p:blipFill>
        <p:spPr>
          <a:xfrm xmlns:a="http://schemas.openxmlformats.org/drawingml/2006/main">
            <a:off x="6632781" y="1428750"/>
            <a:ext cx="4355689" cy="4762500"/>
          </a:xfrm>
          <a:prstGeom xmlns:a="http://schemas.openxmlformats.org/drawingml/2006/main" prst="rect">
            <a:avLst/>
          </a:prstGeom>
        </p:spPr>
      </p:pic>
    </p:spTree>
    <p:extLst>
      <p:ext uri="{BB962C8B-B14F-4D97-AF65-F5344CB8AC3E}">
        <p14:creationId xmlns:p14="http://schemas.microsoft.com/office/powerpoint/2010/main" val="625375423"/>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A1D01E-C982-4147-9460-17CD14A70E19}"/>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Recorded verification covers the complete workflow</a:t>
            </a:r>
          </a:p>
        </p:txBody>
      </p:sp>
      <p:sp>
        <p:nvSpPr>
          <p:cNvPr id="2" name="">
            <a:extLst xmlns:a="http://schemas.openxmlformats.org/drawingml/2006/main">
              <a:ext uri="{FF2B5EF4-FFF2-40B4-BE49-F238E27FC236}">
                <a16:creationId xmlns:a16="http://schemas.microsoft.com/office/drawing/2014/main" id="{F3E650F3-A71D-4ADD-8067-F1C667041DB1}"/>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3252D11-303F-4A5F-BAE2-8FAF2102415C}"/>
              </a:ext>
            </a:extLst>
          </p:cNvPr>
          <p:cNvSpPr>
            <a:spLocks xmlns:a="http://schemas.openxmlformats.org/drawingml/2006/main" noGrp="1"/>
          </p:cNvSpPr>
          <p:nvPr/>
        </p:nvSpPr>
        <p:spPr>
          <a:xfrm xmlns:a="http://schemas.openxmlformats.org/drawingml/2006/main">
            <a:off x="609600" y="16668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153 backend tests</a:t>
            </a:r>
          </a:p>
        </p:txBody>
      </p:sp>
      <p:sp>
        <p:nvSpPr>
          <p:cNvPr id="4" name="">
            <a:extLst xmlns:a="http://schemas.openxmlformats.org/drawingml/2006/main">
              <a:ext uri="{FF2B5EF4-FFF2-40B4-BE49-F238E27FC236}">
                <a16:creationId xmlns:a16="http://schemas.microsoft.com/office/drawing/2014/main" id="{773E401E-3506-4C9C-8100-8903152D1A08}"/>
              </a:ext>
            </a:extLst>
          </p:cNvPr>
          <p:cNvSpPr>
            <a:spLocks xmlns:a="http://schemas.openxmlformats.org/drawingml/2006/main" noGrp="1"/>
          </p:cNvSpPr>
          <p:nvPr/>
        </p:nvSpPr>
        <p:spPr>
          <a:xfrm xmlns:a="http://schemas.openxmlformats.org/drawingml/2006/main">
            <a:off x="4000500" y="1666875"/>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Recorded passing suite includes 15 dataset-to-execution journeys with simulated adapters.</a:t>
            </a:r>
          </a:p>
        </p:txBody>
      </p:sp>
      <p:sp>
        <p:nvSpPr>
          <p:cNvPr id="5" name="">
            <a:extLst xmlns:a="http://schemas.openxmlformats.org/drawingml/2006/main">
              <a:ext uri="{FF2B5EF4-FFF2-40B4-BE49-F238E27FC236}">
                <a16:creationId xmlns:a16="http://schemas.microsoft.com/office/drawing/2014/main" id="{0BD1BBD2-E913-4428-923F-A39183149B8E}"/>
              </a:ext>
            </a:extLst>
          </p:cNvPr>
          <p:cNvSpPr>
            <a:spLocks xmlns:a="http://schemas.openxmlformats.org/drawingml/2006/main" noGrp="1"/>
          </p:cNvSpPr>
          <p:nvPr/>
        </p:nvSpPr>
        <p:spPr>
          <a:xfrm xmlns:a="http://schemas.openxmlformats.org/drawingml/2006/main">
            <a:off x="609600" y="28098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15 live MCP journeys</a:t>
            </a:r>
          </a:p>
        </p:txBody>
      </p:sp>
      <p:sp>
        <p:nvSpPr>
          <p:cNvPr id="6" name="">
            <a:extLst xmlns:a="http://schemas.openxmlformats.org/drawingml/2006/main">
              <a:ext uri="{FF2B5EF4-FFF2-40B4-BE49-F238E27FC236}">
                <a16:creationId xmlns:a16="http://schemas.microsoft.com/office/drawing/2014/main" id="{AB1F075A-5F69-4D50-AA88-507BE32CA771}"/>
              </a:ext>
            </a:extLst>
          </p:cNvPr>
          <p:cNvSpPr>
            <a:spLocks xmlns:a="http://schemas.openxmlformats.org/drawingml/2006/main" noGrp="1"/>
          </p:cNvSpPr>
          <p:nvPr/>
        </p:nvSpPr>
        <p:spPr>
          <a:xfrm xmlns:a="http://schemas.openxmlformats.org/drawingml/2006/main">
            <a:off x="4000500" y="2809875"/>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Recorded API runs through approval, execution, state checks and repeat handling.</a:t>
            </a:r>
          </a:p>
        </p:txBody>
      </p:sp>
      <p:sp>
        <p:nvSpPr>
          <p:cNvPr id="7" name="">
            <a:extLst xmlns:a="http://schemas.openxmlformats.org/drawingml/2006/main">
              <a:ext uri="{FF2B5EF4-FFF2-40B4-BE49-F238E27FC236}">
                <a16:creationId xmlns:a16="http://schemas.microsoft.com/office/drawing/2014/main" id="{5088DD3B-BE9B-40E0-8EA9-E3DAF46385F8}"/>
              </a:ext>
            </a:extLst>
          </p:cNvPr>
          <p:cNvSpPr>
            <a:spLocks xmlns:a="http://schemas.openxmlformats.org/drawingml/2006/main" noGrp="1"/>
          </p:cNvSpPr>
          <p:nvPr/>
        </p:nvSpPr>
        <p:spPr>
          <a:xfrm xmlns:a="http://schemas.openxmlformats.org/drawingml/2006/main">
            <a:off x="609600" y="39528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Real integration records</a:t>
            </a:r>
          </a:p>
        </p:txBody>
      </p:sp>
      <p:sp>
        <p:nvSpPr>
          <p:cNvPr id="8" name="">
            <a:extLst xmlns:a="http://schemas.openxmlformats.org/drawingml/2006/main">
              <a:ext uri="{FF2B5EF4-FFF2-40B4-BE49-F238E27FC236}">
                <a16:creationId xmlns:a16="http://schemas.microsoft.com/office/drawing/2014/main" id="{7BD00F65-A847-4A8D-B170-2DFBB6B83D4C}"/>
              </a:ext>
            </a:extLst>
          </p:cNvPr>
          <p:cNvSpPr>
            <a:spLocks xmlns:a="http://schemas.openxmlformats.org/drawingml/2006/main" noGrp="1"/>
          </p:cNvSpPr>
          <p:nvPr/>
        </p:nvSpPr>
        <p:spPr>
          <a:xfrm xmlns:a="http://schemas.openxmlformats.org/drawingml/2006/main">
            <a:off x="4000500" y="3952875"/>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Frontend build, LLM checks and Terraform PR #3. No Terraform merge or apply.</a:t>
            </a:r>
          </a:p>
        </p:txBody>
      </p:sp>
      <p:sp>
        <p:nvSpPr>
          <p:cNvPr id="9" name="">
            <a:extLst xmlns:a="http://schemas.openxmlformats.org/drawingml/2006/main">
              <a:ext uri="{FF2B5EF4-FFF2-40B4-BE49-F238E27FC236}">
                <a16:creationId xmlns:a16="http://schemas.microsoft.com/office/drawing/2014/main" id="{12600E7C-8B5C-40AC-B2C3-D1A3658F4C21}"/>
              </a:ext>
            </a:extLst>
          </p:cNvPr>
          <p:cNvSpPr>
            <a:spLocks xmlns:a="http://schemas.openxmlformats.org/drawingml/2006/main" noGrp="1"/>
          </p:cNvSpPr>
          <p:nvPr/>
        </p:nvSpPr>
        <p:spPr>
          <a:xfrm xmlns:a="http://schemas.openxmlformats.org/drawingml/2006/main">
            <a:off x="609600" y="5810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479"/>
                </a:solidFill>
                <a:latin typeface="Arial"/>
                <a:ea typeface="Arial"/>
                <a:cs typeface="Arial"/>
              </a:defRPr>
            </a:defPPr>
            <a:lvl1pPr>
              <a:defRPr sz="1650" b="0">
                <a:solidFill>
                  <a:srgbClr val="536479"/>
                </a:solidFill>
                <a:latin typeface="Arial"/>
                <a:ea typeface="Arial"/>
                <a:cs typeface="Arial"/>
              </a:defRPr>
            </a:lvl1pPr>
            <a:lvl2pPr>
              <a:defRPr sz="1650" b="0">
                <a:solidFill>
                  <a:srgbClr val="536479"/>
                </a:solidFill>
                <a:latin typeface="Arial"/>
                <a:ea typeface="Arial"/>
                <a:cs typeface="Arial"/>
              </a:defRPr>
            </a:lvl2pPr>
            <a:lvl3pPr>
              <a:defRPr sz="1650" b="0">
                <a:solidFill>
                  <a:srgbClr val="536479"/>
                </a:solidFill>
                <a:latin typeface="Arial"/>
                <a:ea typeface="Arial"/>
                <a:cs typeface="Arial"/>
              </a:defRPr>
            </a:lvl3pPr>
            <a:lvl4pPr>
              <a:defRPr sz="1650" b="0">
                <a:solidFill>
                  <a:srgbClr val="536479"/>
                </a:solidFill>
                <a:latin typeface="Arial"/>
                <a:ea typeface="Arial"/>
                <a:cs typeface="Arial"/>
              </a:defRPr>
            </a:lvl4pPr>
            <a:lvl5pPr>
              <a:defRPr sz="1650" b="0">
                <a:solidFill>
                  <a:srgbClr val="536479"/>
                </a:solidFill>
                <a:latin typeface="Arial"/>
                <a:ea typeface="Arial"/>
                <a:cs typeface="Arial"/>
              </a:defRPr>
            </a:lvl5pPr>
            <a:lvl6pPr>
              <a:defRPr sz="1650" b="0">
                <a:solidFill>
                  <a:srgbClr val="536479"/>
                </a:solidFill>
                <a:latin typeface="Arial"/>
                <a:ea typeface="Arial"/>
                <a:cs typeface="Arial"/>
              </a:defRPr>
            </a:lvl6pPr>
            <a:lvl7pPr>
              <a:defRPr sz="1650" b="0">
                <a:solidFill>
                  <a:srgbClr val="536479"/>
                </a:solidFill>
                <a:latin typeface="Arial"/>
                <a:ea typeface="Arial"/>
                <a:cs typeface="Arial"/>
              </a:defRPr>
            </a:lvl7pPr>
            <a:lvl8pPr>
              <a:defRPr sz="1650" b="0">
                <a:solidFill>
                  <a:srgbClr val="536479"/>
                </a:solidFill>
                <a:latin typeface="Arial"/>
                <a:ea typeface="Arial"/>
                <a:cs typeface="Arial"/>
              </a:defRPr>
            </a:lvl8pPr>
            <a:lvl9pPr>
              <a:defRPr sz="1650" b="0">
                <a:solidFill>
                  <a:srgbClr val="536479"/>
                </a:solidFill>
                <a:latin typeface="Arial"/>
                <a:ea typeface="Arial"/>
                <a:cs typeface="Arial"/>
              </a:defRPr>
            </a:lvl9pPr>
          </a:lstStyle>
          <a:p xmlns:a="http://schemas.openxmlformats.org/drawingml/2006/main">
            <a:pPr>
              <a:defRPr sz="1650" b="0">
                <a:solidFill>
                  <a:srgbClr val="536479"/>
                </a:solidFill>
                <a:latin typeface="Arial"/>
                <a:ea typeface="Arial"/>
                <a:cs typeface="Arial"/>
              </a:defRPr>
            </a:pPr>
            <a:r>
              <a:rPr sz="1650" b="0">
                <a:solidFill>
                  <a:srgbClr val="536479"/>
                </a:solidFill>
                <a:latin typeface="Arial"/>
                <a:ea typeface="Arial"/>
                <a:cs typeface="Arial"/>
              </a:rPr>
              <a:t>Recorded results from 24 October 2026. They do not establish production savings.</a:t>
            </a:r>
          </a:p>
        </p:txBody>
      </p:sp>
    </p:spTree>
    <p:extLst>
      <p:ext uri="{BB962C8B-B14F-4D97-AF65-F5344CB8AC3E}">
        <p14:creationId xmlns:p14="http://schemas.microsoft.com/office/powerpoint/2010/main" val="911563714"/>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2EA363-AF5D-4DF9-9F2F-103344000E01}"/>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Production adoption requires new evidence</a:t>
            </a:r>
          </a:p>
        </p:txBody>
      </p:sp>
      <p:sp>
        <p:nvSpPr>
          <p:cNvPr id="2" name="">
            <a:extLst xmlns:a="http://schemas.openxmlformats.org/drawingml/2006/main">
              <a:ext uri="{FF2B5EF4-FFF2-40B4-BE49-F238E27FC236}">
                <a16:creationId xmlns:a16="http://schemas.microsoft.com/office/drawing/2014/main" id="{CD92B472-436B-438D-AE58-5E6C19003F6D}"/>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96DD567F-B14C-4042-8D34-44A1E13005B7}"/>
              </a:ext>
            </a:extLst>
          </p:cNvPr>
          <p:cNvSpPr>
            <a:spLocks xmlns:a="http://schemas.openxmlformats.org/drawingml/2006/main" noGrp="1"/>
          </p:cNvSpPr>
          <p:nvPr/>
        </p:nvSpPr>
        <p:spPr>
          <a:xfrm xmlns:a="http://schemas.openxmlformats.org/drawingml/2006/main">
            <a:off x="609600" y="1714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Provider validation</a:t>
            </a:r>
          </a:p>
        </p:txBody>
      </p:sp>
      <p:sp>
        <p:nvSpPr>
          <p:cNvPr id="4" name="">
            <a:extLst xmlns:a="http://schemas.openxmlformats.org/drawingml/2006/main">
              <a:ext uri="{FF2B5EF4-FFF2-40B4-BE49-F238E27FC236}">
                <a16:creationId xmlns:a16="http://schemas.microsoft.com/office/drawing/2014/main" id="{EC9587CE-5AF0-4C2A-922C-2EBC7438D4AA}"/>
              </a:ext>
            </a:extLst>
          </p:cNvPr>
          <p:cNvSpPr>
            <a:spLocks xmlns:a="http://schemas.openxmlformats.org/drawingml/2006/main" noGrp="1"/>
          </p:cNvSpPr>
          <p:nvPr/>
        </p:nvSpPr>
        <p:spPr>
          <a:xfrm xmlns:a="http://schemas.openxmlformats.org/drawingml/2006/main">
            <a:off x="4000500" y="171450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Confirm current tariffs, regional availability and resize constraints with Utho.</a:t>
            </a:r>
          </a:p>
        </p:txBody>
      </p:sp>
      <p:sp>
        <p:nvSpPr>
          <p:cNvPr id="5" name="">
            <a:extLst xmlns:a="http://schemas.openxmlformats.org/drawingml/2006/main">
              <a:ext uri="{FF2B5EF4-FFF2-40B4-BE49-F238E27FC236}">
                <a16:creationId xmlns:a16="http://schemas.microsoft.com/office/drawing/2014/main" id="{66EB5AC1-03EC-41D5-B682-04F32CB7F07D}"/>
              </a:ext>
            </a:extLst>
          </p:cNvPr>
          <p:cNvSpPr>
            <a:spLocks xmlns:a="http://schemas.openxmlformats.org/drawingml/2006/main" noGrp="1"/>
          </p:cNvSpPr>
          <p:nvPr/>
        </p:nvSpPr>
        <p:spPr>
          <a:xfrm xmlns:a="http://schemas.openxmlformats.org/drawingml/2006/main">
            <a:off x="609600" y="2857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Workload validation</a:t>
            </a:r>
          </a:p>
        </p:txBody>
      </p:sp>
      <p:sp>
        <p:nvSpPr>
          <p:cNvPr id="6" name="">
            <a:extLst xmlns:a="http://schemas.openxmlformats.org/drawingml/2006/main">
              <a:ext uri="{FF2B5EF4-FFF2-40B4-BE49-F238E27FC236}">
                <a16:creationId xmlns:a16="http://schemas.microsoft.com/office/drawing/2014/main" id="{762F7826-3E8F-49F1-B814-797A26103018}"/>
              </a:ext>
            </a:extLst>
          </p:cNvPr>
          <p:cNvSpPr>
            <a:spLocks xmlns:a="http://schemas.openxmlformats.org/drawingml/2006/main" noGrp="1"/>
          </p:cNvSpPr>
          <p:nvPr/>
        </p:nvSpPr>
        <p:spPr>
          <a:xfrm xmlns:a="http://schemas.openxmlformats.org/drawingml/2006/main">
            <a:off x="4000500" y="285750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Use real telemetry, configuration history and application performance tests.</a:t>
            </a:r>
          </a:p>
        </p:txBody>
      </p:sp>
      <p:sp>
        <p:nvSpPr>
          <p:cNvPr id="7" name="">
            <a:extLst xmlns:a="http://schemas.openxmlformats.org/drawingml/2006/main">
              <a:ext uri="{FF2B5EF4-FFF2-40B4-BE49-F238E27FC236}">
                <a16:creationId xmlns:a16="http://schemas.microsoft.com/office/drawing/2014/main" id="{2E2137C6-6418-48C2-BBA9-07B8D2E76BF5}"/>
              </a:ext>
            </a:extLst>
          </p:cNvPr>
          <p:cNvSpPr>
            <a:spLocks xmlns:a="http://schemas.openxmlformats.org/drawingml/2006/main" noGrp="1"/>
          </p:cNvSpPr>
          <p:nvPr/>
        </p:nvSpPr>
        <p:spPr>
          <a:xfrm xmlns:a="http://schemas.openxmlformats.org/drawingml/2006/main">
            <a:off x="609600" y="4000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Deployment readiness</a:t>
            </a:r>
          </a:p>
        </p:txBody>
      </p:sp>
      <p:sp>
        <p:nvSpPr>
          <p:cNvPr id="8" name="">
            <a:extLst xmlns:a="http://schemas.openxmlformats.org/drawingml/2006/main">
              <a:ext uri="{FF2B5EF4-FFF2-40B4-BE49-F238E27FC236}">
                <a16:creationId xmlns:a16="http://schemas.microsoft.com/office/drawing/2014/main" id="{B252450F-E90F-4B39-A3EB-A6C22189E3D1}"/>
              </a:ext>
            </a:extLst>
          </p:cNvPr>
          <p:cNvSpPr>
            <a:spLocks xmlns:a="http://schemas.openxmlformats.org/drawingml/2006/main" noGrp="1"/>
          </p:cNvSpPr>
          <p:nvPr/>
        </p:nvSpPr>
        <p:spPr>
          <a:xfrm xmlns:a="http://schemas.openxmlformats.org/drawingml/2006/main">
            <a:off x="4000500" y="400050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Add tenant identity and isolation, production controls and invoice reconciliation.</a:t>
            </a:r>
          </a:p>
        </p:txBody>
      </p:sp>
    </p:spTree>
    <p:extLst>
      <p:ext uri="{BB962C8B-B14F-4D97-AF65-F5344CB8AC3E}">
        <p14:creationId xmlns:p14="http://schemas.microsoft.com/office/powerpoint/2010/main" val="2036155603"/>
      </p:ext>
    </p:extLst>
  </p:cSld>
</p:sld>
</file>

<file path=ppt/slides/slide1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BB2623-37ED-4BF6-94F6-C70259ADEA48}"/>
              </a:ext>
            </a:extLst>
          </p:cNvPr>
          <p:cNvSpPr>
            <a:spLocks xmlns:a="http://schemas.openxmlformats.org/drawingml/2006/main" noGrp="1"/>
          </p:cNvSpPr>
          <p:nvPr/>
        </p:nvSpPr>
        <p:spPr>
          <a:xfrm xmlns:a="http://schemas.openxmlformats.org/drawingml/2006/main">
            <a:off x="609600" y="457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43A"/>
                </a:solidFill>
                <a:latin typeface="Arial"/>
                <a:ea typeface="Arial"/>
                <a:cs typeface="Arial"/>
              </a:defRPr>
            </a:defPPr>
            <a:lvl1pPr>
              <a:defRPr sz="3150" b="1">
                <a:solidFill>
                  <a:srgbClr val="10243A"/>
                </a:solidFill>
                <a:latin typeface="Arial"/>
                <a:ea typeface="Arial"/>
                <a:cs typeface="Arial"/>
              </a:defRPr>
            </a:lvl1pPr>
            <a:lvl2pPr>
              <a:defRPr sz="3150" b="1">
                <a:solidFill>
                  <a:srgbClr val="10243A"/>
                </a:solidFill>
                <a:latin typeface="Arial"/>
                <a:ea typeface="Arial"/>
                <a:cs typeface="Arial"/>
              </a:defRPr>
            </a:lvl2pPr>
            <a:lvl3pPr>
              <a:defRPr sz="3150" b="1">
                <a:solidFill>
                  <a:srgbClr val="10243A"/>
                </a:solidFill>
                <a:latin typeface="Arial"/>
                <a:ea typeface="Arial"/>
                <a:cs typeface="Arial"/>
              </a:defRPr>
            </a:lvl3pPr>
            <a:lvl4pPr>
              <a:defRPr sz="3150" b="1">
                <a:solidFill>
                  <a:srgbClr val="10243A"/>
                </a:solidFill>
                <a:latin typeface="Arial"/>
                <a:ea typeface="Arial"/>
                <a:cs typeface="Arial"/>
              </a:defRPr>
            </a:lvl4pPr>
            <a:lvl5pPr>
              <a:defRPr sz="3150" b="1">
                <a:solidFill>
                  <a:srgbClr val="10243A"/>
                </a:solidFill>
                <a:latin typeface="Arial"/>
                <a:ea typeface="Arial"/>
                <a:cs typeface="Arial"/>
              </a:defRPr>
            </a:lvl5pPr>
            <a:lvl6pPr>
              <a:defRPr sz="3150" b="1">
                <a:solidFill>
                  <a:srgbClr val="10243A"/>
                </a:solidFill>
                <a:latin typeface="Arial"/>
                <a:ea typeface="Arial"/>
                <a:cs typeface="Arial"/>
              </a:defRPr>
            </a:lvl6pPr>
            <a:lvl7pPr>
              <a:defRPr sz="3150" b="1">
                <a:solidFill>
                  <a:srgbClr val="10243A"/>
                </a:solidFill>
                <a:latin typeface="Arial"/>
                <a:ea typeface="Arial"/>
                <a:cs typeface="Arial"/>
              </a:defRPr>
            </a:lvl7pPr>
            <a:lvl8pPr>
              <a:defRPr sz="3150" b="1">
                <a:solidFill>
                  <a:srgbClr val="10243A"/>
                </a:solidFill>
                <a:latin typeface="Arial"/>
                <a:ea typeface="Arial"/>
                <a:cs typeface="Arial"/>
              </a:defRPr>
            </a:lvl8pPr>
            <a:lvl9pPr>
              <a:defRPr sz="3150" b="1">
                <a:solidFill>
                  <a:srgbClr val="10243A"/>
                </a:solidFill>
                <a:latin typeface="Arial"/>
                <a:ea typeface="Arial"/>
                <a:cs typeface="Arial"/>
              </a:defRPr>
            </a:lvl9pPr>
          </a:lstStyle>
          <a:p xmlns:a="http://schemas.openxmlformats.org/drawingml/2006/main">
            <a:pPr>
              <a:defRPr sz="3150" b="1">
                <a:solidFill>
                  <a:srgbClr val="10243A"/>
                </a:solidFill>
                <a:latin typeface="Arial"/>
                <a:ea typeface="Arial"/>
                <a:cs typeface="Arial"/>
              </a:defRPr>
            </a:pPr>
            <a:r>
              <a:rPr sz="3150" b="1">
                <a:solidFill>
                  <a:srgbClr val="10243A"/>
                </a:solidFill>
                <a:latin typeface="Arial"/>
                <a:ea typeface="Arial"/>
                <a:cs typeface="Arial"/>
              </a:rPr>
              <a:t>Dataset assumptions and judge Q&amp;A</a:t>
            </a:r>
          </a:p>
        </p:txBody>
      </p:sp>
      <p:sp>
        <p:nvSpPr>
          <p:cNvPr id="2" name="">
            <a:extLst xmlns:a="http://schemas.openxmlformats.org/drawingml/2006/main">
              <a:ext uri="{FF2B5EF4-FFF2-40B4-BE49-F238E27FC236}">
                <a16:creationId xmlns:a16="http://schemas.microsoft.com/office/drawing/2014/main" id="{C6C81035-B901-40B8-8F57-3DD36F7951AE}"/>
              </a:ext>
            </a:extLst>
          </p:cNvPr>
          <p:cNvSpPr>
            <a:spLocks xmlns:a="http://schemas.openxmlformats.org/drawingml/2006/main" noGrp="1"/>
          </p:cNvSpPr>
          <p:nvPr/>
        </p:nvSpPr>
        <p:spPr>
          <a:xfrm xmlns:a="http://schemas.openxmlformats.org/drawingml/2006/main">
            <a:off x="11144250" y="64008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36479"/>
                </a:solidFill>
                <a:latin typeface="Arial"/>
                <a:ea typeface="Arial"/>
                <a:cs typeface="Arial"/>
              </a:defRPr>
            </a:defPPr>
            <a:lvl1pPr>
              <a:defRPr sz="1200" b="0">
                <a:solidFill>
                  <a:srgbClr val="536479"/>
                </a:solidFill>
                <a:latin typeface="Arial"/>
                <a:ea typeface="Arial"/>
                <a:cs typeface="Arial"/>
              </a:defRPr>
            </a:lvl1pPr>
            <a:lvl2pPr>
              <a:defRPr sz="1200" b="0">
                <a:solidFill>
                  <a:srgbClr val="536479"/>
                </a:solidFill>
                <a:latin typeface="Arial"/>
                <a:ea typeface="Arial"/>
                <a:cs typeface="Arial"/>
              </a:defRPr>
            </a:lvl2pPr>
            <a:lvl3pPr>
              <a:defRPr sz="1200" b="0">
                <a:solidFill>
                  <a:srgbClr val="536479"/>
                </a:solidFill>
                <a:latin typeface="Arial"/>
                <a:ea typeface="Arial"/>
                <a:cs typeface="Arial"/>
              </a:defRPr>
            </a:lvl3pPr>
            <a:lvl4pPr>
              <a:defRPr sz="1200" b="0">
                <a:solidFill>
                  <a:srgbClr val="536479"/>
                </a:solidFill>
                <a:latin typeface="Arial"/>
                <a:ea typeface="Arial"/>
                <a:cs typeface="Arial"/>
              </a:defRPr>
            </a:lvl4pPr>
            <a:lvl5pPr>
              <a:defRPr sz="1200" b="0">
                <a:solidFill>
                  <a:srgbClr val="536479"/>
                </a:solidFill>
                <a:latin typeface="Arial"/>
                <a:ea typeface="Arial"/>
                <a:cs typeface="Arial"/>
              </a:defRPr>
            </a:lvl5pPr>
            <a:lvl6pPr>
              <a:defRPr sz="1200" b="0">
                <a:solidFill>
                  <a:srgbClr val="536479"/>
                </a:solidFill>
                <a:latin typeface="Arial"/>
                <a:ea typeface="Arial"/>
                <a:cs typeface="Arial"/>
              </a:defRPr>
            </a:lvl6pPr>
            <a:lvl7pPr>
              <a:defRPr sz="1200" b="0">
                <a:solidFill>
                  <a:srgbClr val="536479"/>
                </a:solidFill>
                <a:latin typeface="Arial"/>
                <a:ea typeface="Arial"/>
                <a:cs typeface="Arial"/>
              </a:defRPr>
            </a:lvl7pPr>
            <a:lvl8pPr>
              <a:defRPr sz="1200" b="0">
                <a:solidFill>
                  <a:srgbClr val="536479"/>
                </a:solidFill>
                <a:latin typeface="Arial"/>
                <a:ea typeface="Arial"/>
                <a:cs typeface="Arial"/>
              </a:defRPr>
            </a:lvl8pPr>
            <a:lvl9pPr>
              <a:defRPr sz="1200" b="0">
                <a:solidFill>
                  <a:srgbClr val="536479"/>
                </a:solidFill>
                <a:latin typeface="Arial"/>
                <a:ea typeface="Arial"/>
                <a:cs typeface="Arial"/>
              </a:defRPr>
            </a:lvl9pPr>
          </a:lstStyle>
          <a:p xmlns:a="http://schemas.openxmlformats.org/drawingml/2006/main">
            <a:pPr>
              <a:defRPr sz="1200" b="0">
                <a:solidFill>
                  <a:srgbClr val="536479"/>
                </a:solidFill>
                <a:latin typeface="Arial"/>
                <a:ea typeface="Arial"/>
                <a:cs typeface="Arial"/>
              </a:defRPr>
            </a:pPr>
            <a:r>
              <a:rPr sz="1200" b="0">
                <a:solidFill>
                  <a:srgbClr val="53647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F5C4406C-A60C-4E9F-B1F7-9AC29949880F}"/>
              </a:ext>
            </a:extLst>
          </p:cNvPr>
          <p:cNvSpPr>
            <a:spLocks xmlns:a="http://schemas.openxmlformats.org/drawingml/2006/main" noGrp="1"/>
          </p:cNvSpPr>
          <p:nvPr/>
        </p:nvSpPr>
        <p:spPr>
          <a:xfrm xmlns:a="http://schemas.openxmlformats.org/drawingml/2006/main">
            <a:off x="609600" y="1714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Why synthetic data?</a:t>
            </a:r>
          </a:p>
        </p:txBody>
      </p:sp>
      <p:sp>
        <p:nvSpPr>
          <p:cNvPr id="4" name="">
            <a:extLst xmlns:a="http://schemas.openxmlformats.org/drawingml/2006/main">
              <a:ext uri="{FF2B5EF4-FFF2-40B4-BE49-F238E27FC236}">
                <a16:creationId xmlns:a16="http://schemas.microsoft.com/office/drawing/2014/main" id="{378B06F2-7D86-4949-A12D-9733791717D6}"/>
              </a:ext>
            </a:extLst>
          </p:cNvPr>
          <p:cNvSpPr>
            <a:spLocks xmlns:a="http://schemas.openxmlformats.org/drawingml/2006/main" noGrp="1"/>
          </p:cNvSpPr>
          <p:nvPr/>
        </p:nvSpPr>
        <p:spPr>
          <a:xfrm xmlns:a="http://schemas.openxmlformats.org/drawingml/2006/main">
            <a:off x="4000500" y="171450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It enables repeatable edge cases and testing without tenant infrastructure access.</a:t>
            </a:r>
          </a:p>
        </p:txBody>
      </p:sp>
      <p:sp>
        <p:nvSpPr>
          <p:cNvPr id="5" name="">
            <a:extLst xmlns:a="http://schemas.openxmlformats.org/drawingml/2006/main">
              <a:ext uri="{FF2B5EF4-FFF2-40B4-BE49-F238E27FC236}">
                <a16:creationId xmlns:a16="http://schemas.microsoft.com/office/drawing/2014/main" id="{FEEC9A72-8F84-45FF-AE5C-BFC6BF1EADB8}"/>
              </a:ext>
            </a:extLst>
          </p:cNvPr>
          <p:cNvSpPr>
            <a:spLocks xmlns:a="http://schemas.openxmlformats.org/drawingml/2006/main" noGrp="1"/>
          </p:cNvSpPr>
          <p:nvPr/>
        </p:nvSpPr>
        <p:spPr>
          <a:xfrm xmlns:a="http://schemas.openxmlformats.org/drawingml/2006/main">
            <a:off x="609600" y="2857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How is it justified?</a:t>
            </a:r>
          </a:p>
        </p:txBody>
      </p:sp>
      <p:sp>
        <p:nvSpPr>
          <p:cNvPr id="6" name="">
            <a:extLst xmlns:a="http://schemas.openxmlformats.org/drawingml/2006/main">
              <a:ext uri="{FF2B5EF4-FFF2-40B4-BE49-F238E27FC236}">
                <a16:creationId xmlns:a16="http://schemas.microsoft.com/office/drawing/2014/main" id="{21C211AE-640F-493C-8F7F-B51836E8C998}"/>
              </a:ext>
            </a:extLst>
          </p:cNvPr>
          <p:cNvSpPr>
            <a:spLocks xmlns:a="http://schemas.openxmlformats.org/drawingml/2006/main" noGrp="1"/>
          </p:cNvSpPr>
          <p:nvPr/>
        </p:nvSpPr>
        <p:spPr>
          <a:xfrm xmlns:a="http://schemas.openxmlformats.org/drawingml/2006/main">
            <a:off x="4000500" y="285750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The companion workbook ties each assumption to its purpose, source and validation gap.</a:t>
            </a:r>
          </a:p>
        </p:txBody>
      </p:sp>
      <p:sp>
        <p:nvSpPr>
          <p:cNvPr id="7" name="">
            <a:extLst xmlns:a="http://schemas.openxmlformats.org/drawingml/2006/main">
              <a:ext uri="{FF2B5EF4-FFF2-40B4-BE49-F238E27FC236}">
                <a16:creationId xmlns:a16="http://schemas.microsoft.com/office/drawing/2014/main" id="{F9D4568B-F350-421C-BB33-A98889856304}"/>
              </a:ext>
            </a:extLst>
          </p:cNvPr>
          <p:cNvSpPr>
            <a:spLocks xmlns:a="http://schemas.openxmlformats.org/drawingml/2006/main" noGrp="1"/>
          </p:cNvSpPr>
          <p:nvPr/>
        </p:nvSpPr>
        <p:spPr>
          <a:xfrm xmlns:a="http://schemas.openxmlformats.org/drawingml/2006/main">
            <a:off x="609600" y="4000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B"/>
                </a:solidFill>
                <a:latin typeface="Arial"/>
                <a:ea typeface="Arial"/>
                <a:cs typeface="Arial"/>
              </a:defRPr>
            </a:defPPr>
            <a:lvl1pPr>
              <a:defRPr sz="2100" b="1">
                <a:solidFill>
                  <a:srgbClr val="007F8B"/>
                </a:solidFill>
                <a:latin typeface="Arial"/>
                <a:ea typeface="Arial"/>
                <a:cs typeface="Arial"/>
              </a:defRPr>
            </a:lvl1pPr>
            <a:lvl2pPr>
              <a:defRPr sz="2100" b="1">
                <a:solidFill>
                  <a:srgbClr val="007F8B"/>
                </a:solidFill>
                <a:latin typeface="Arial"/>
                <a:ea typeface="Arial"/>
                <a:cs typeface="Arial"/>
              </a:defRPr>
            </a:lvl2pPr>
            <a:lvl3pPr>
              <a:defRPr sz="2100" b="1">
                <a:solidFill>
                  <a:srgbClr val="007F8B"/>
                </a:solidFill>
                <a:latin typeface="Arial"/>
                <a:ea typeface="Arial"/>
                <a:cs typeface="Arial"/>
              </a:defRPr>
            </a:lvl3pPr>
            <a:lvl4pPr>
              <a:defRPr sz="2100" b="1">
                <a:solidFill>
                  <a:srgbClr val="007F8B"/>
                </a:solidFill>
                <a:latin typeface="Arial"/>
                <a:ea typeface="Arial"/>
                <a:cs typeface="Arial"/>
              </a:defRPr>
            </a:lvl4pPr>
            <a:lvl5pPr>
              <a:defRPr sz="2100" b="1">
                <a:solidFill>
                  <a:srgbClr val="007F8B"/>
                </a:solidFill>
                <a:latin typeface="Arial"/>
                <a:ea typeface="Arial"/>
                <a:cs typeface="Arial"/>
              </a:defRPr>
            </a:lvl5pPr>
            <a:lvl6pPr>
              <a:defRPr sz="2100" b="1">
                <a:solidFill>
                  <a:srgbClr val="007F8B"/>
                </a:solidFill>
                <a:latin typeface="Arial"/>
                <a:ea typeface="Arial"/>
                <a:cs typeface="Arial"/>
              </a:defRPr>
            </a:lvl6pPr>
            <a:lvl7pPr>
              <a:defRPr sz="2100" b="1">
                <a:solidFill>
                  <a:srgbClr val="007F8B"/>
                </a:solidFill>
                <a:latin typeface="Arial"/>
                <a:ea typeface="Arial"/>
                <a:cs typeface="Arial"/>
              </a:defRPr>
            </a:lvl7pPr>
            <a:lvl8pPr>
              <a:defRPr sz="2100" b="1">
                <a:solidFill>
                  <a:srgbClr val="007F8B"/>
                </a:solidFill>
                <a:latin typeface="Arial"/>
                <a:ea typeface="Arial"/>
                <a:cs typeface="Arial"/>
              </a:defRPr>
            </a:lvl8pPr>
            <a:lvl9pPr>
              <a:defRPr sz="2100" b="1">
                <a:solidFill>
                  <a:srgbClr val="007F8B"/>
                </a:solidFill>
                <a:latin typeface="Arial"/>
                <a:ea typeface="Arial"/>
                <a:cs typeface="Arial"/>
              </a:defRPr>
            </a:lvl9pPr>
          </a:lstStyle>
          <a:p xmlns:a="http://schemas.openxmlformats.org/drawingml/2006/main">
            <a:pPr>
              <a:defRPr sz="2100" b="1">
                <a:solidFill>
                  <a:srgbClr val="007F8B"/>
                </a:solidFill>
                <a:latin typeface="Arial"/>
                <a:ea typeface="Arial"/>
                <a:cs typeface="Arial"/>
              </a:defRPr>
            </a:pPr>
            <a:r>
              <a:rPr sz="2100" b="1">
                <a:solidFill>
                  <a:srgbClr val="007F8B"/>
                </a:solidFill>
                <a:latin typeface="Arial"/>
                <a:ea typeface="Arial"/>
                <a:cs typeface="Arial"/>
              </a:rPr>
              <a:t>What can we claim?</a:t>
            </a:r>
          </a:p>
        </p:txBody>
      </p:sp>
      <p:sp>
        <p:nvSpPr>
          <p:cNvPr id="8" name="">
            <a:extLst xmlns:a="http://schemas.openxmlformats.org/drawingml/2006/main">
              <a:ext uri="{FF2B5EF4-FFF2-40B4-BE49-F238E27FC236}">
                <a16:creationId xmlns:a16="http://schemas.microsoft.com/office/drawing/2014/main" id="{E41172DD-A24F-4CE1-9F0C-19D14592E19C}"/>
              </a:ext>
            </a:extLst>
          </p:cNvPr>
          <p:cNvSpPr>
            <a:spLocks xmlns:a="http://schemas.openxmlformats.org/drawingml/2006/main" noGrp="1"/>
          </p:cNvSpPr>
          <p:nvPr/>
        </p:nvSpPr>
        <p:spPr>
          <a:xfrm xmlns:a="http://schemas.openxmlformats.org/drawingml/2006/main">
            <a:off x="4000500" y="4000500"/>
            <a:ext cx="733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0243A"/>
                </a:solidFill>
                <a:latin typeface="Arial"/>
                <a:ea typeface="Arial"/>
                <a:cs typeface="Arial"/>
              </a:defRPr>
            </a:defPPr>
            <a:lvl1pPr>
              <a:defRPr sz="2100" b="0">
                <a:solidFill>
                  <a:srgbClr val="10243A"/>
                </a:solidFill>
                <a:latin typeface="Arial"/>
                <a:ea typeface="Arial"/>
                <a:cs typeface="Arial"/>
              </a:defRPr>
            </a:lvl1pPr>
            <a:lvl2pPr>
              <a:defRPr sz="2100" b="0">
                <a:solidFill>
                  <a:srgbClr val="10243A"/>
                </a:solidFill>
                <a:latin typeface="Arial"/>
                <a:ea typeface="Arial"/>
                <a:cs typeface="Arial"/>
              </a:defRPr>
            </a:lvl2pPr>
            <a:lvl3pPr>
              <a:defRPr sz="2100" b="0">
                <a:solidFill>
                  <a:srgbClr val="10243A"/>
                </a:solidFill>
                <a:latin typeface="Arial"/>
                <a:ea typeface="Arial"/>
                <a:cs typeface="Arial"/>
              </a:defRPr>
            </a:lvl3pPr>
            <a:lvl4pPr>
              <a:defRPr sz="2100" b="0">
                <a:solidFill>
                  <a:srgbClr val="10243A"/>
                </a:solidFill>
                <a:latin typeface="Arial"/>
                <a:ea typeface="Arial"/>
                <a:cs typeface="Arial"/>
              </a:defRPr>
            </a:lvl4pPr>
            <a:lvl5pPr>
              <a:defRPr sz="2100" b="0">
                <a:solidFill>
                  <a:srgbClr val="10243A"/>
                </a:solidFill>
                <a:latin typeface="Arial"/>
                <a:ea typeface="Arial"/>
                <a:cs typeface="Arial"/>
              </a:defRPr>
            </a:lvl5pPr>
            <a:lvl6pPr>
              <a:defRPr sz="2100" b="0">
                <a:solidFill>
                  <a:srgbClr val="10243A"/>
                </a:solidFill>
                <a:latin typeface="Arial"/>
                <a:ea typeface="Arial"/>
                <a:cs typeface="Arial"/>
              </a:defRPr>
            </a:lvl6pPr>
            <a:lvl7pPr>
              <a:defRPr sz="2100" b="0">
                <a:solidFill>
                  <a:srgbClr val="10243A"/>
                </a:solidFill>
                <a:latin typeface="Arial"/>
                <a:ea typeface="Arial"/>
                <a:cs typeface="Arial"/>
              </a:defRPr>
            </a:lvl7pPr>
            <a:lvl8pPr>
              <a:defRPr sz="2100" b="0">
                <a:solidFill>
                  <a:srgbClr val="10243A"/>
                </a:solidFill>
                <a:latin typeface="Arial"/>
                <a:ea typeface="Arial"/>
                <a:cs typeface="Arial"/>
              </a:defRPr>
            </a:lvl8pPr>
            <a:lvl9pPr>
              <a:defRPr sz="2100" b="0">
                <a:solidFill>
                  <a:srgbClr val="10243A"/>
                </a:solidFill>
                <a:latin typeface="Arial"/>
                <a:ea typeface="Arial"/>
                <a:cs typeface="Arial"/>
              </a:defRPr>
            </a:lvl9pPr>
          </a:lstStyle>
          <a:p xmlns:a="http://schemas.openxmlformats.org/drawingml/2006/main">
            <a:pPr>
              <a:defRPr sz="2100" b="0">
                <a:solidFill>
                  <a:srgbClr val="10243A"/>
                </a:solidFill>
                <a:latin typeface="Arial"/>
                <a:ea typeface="Arial"/>
                <a:cs typeface="Arial"/>
              </a:defRPr>
            </a:pPr>
            <a:r>
              <a:rPr sz="2100" b="0">
                <a:solidFill>
                  <a:srgbClr val="10243A"/>
                </a:solidFill>
                <a:latin typeface="Arial"/>
                <a:ea typeface="Arial"/>
                <a:cs typeface="Arial"/>
              </a:rPr>
              <a:t>A functional evidence and approval workflow. Cost opportunities remain conditional estimates.</a:t>
            </a:r>
          </a:p>
        </p:txBody>
      </p:sp>
    </p:spTree>
    <p:extLst>
      <p:ext uri="{BB962C8B-B14F-4D97-AF65-F5344CB8AC3E}">
        <p14:creationId xmlns:p14="http://schemas.microsoft.com/office/powerpoint/2010/main" val="14077604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2026-10-24T20:09:48.0760000Z</dcterms:created>
  <dcterms:modified xsi:type="dcterms:W3CDTF">2026-10-24T20:09:48.0760000Z</dcterms:modified>
</coreProperties>
</file>